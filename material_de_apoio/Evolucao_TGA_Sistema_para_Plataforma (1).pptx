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F172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5" d="100"/>
          <a:sy n="75" d="100"/>
        </p:scale>
        <p:origin x="1236" y="34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bson Santos" userId="76ef23076813caca" providerId="LiveId" clId="{2D740785-B7F8-404E-BEED-96B960E228C7}"/>
    <pc:docChg chg="modSld">
      <pc:chgData name="Robson Santos" userId="76ef23076813caca" providerId="LiveId" clId="{2D740785-B7F8-404E-BEED-96B960E228C7}" dt="2025-10-27T23:41:34.978" v="0" actId="1076"/>
      <pc:docMkLst>
        <pc:docMk/>
      </pc:docMkLst>
      <pc:sldChg chg="modSp mod">
        <pc:chgData name="Robson Santos" userId="76ef23076813caca" providerId="LiveId" clId="{2D740785-B7F8-404E-BEED-96B960E228C7}" dt="2025-10-27T23:41:34.978" v="0" actId="1076"/>
        <pc:sldMkLst>
          <pc:docMk/>
          <pc:sldMk cId="0" sldId="256"/>
        </pc:sldMkLst>
        <pc:picChg chg="mod">
          <ac:chgData name="Robson Santos" userId="76ef23076813caca" providerId="LiveId" clId="{2D740785-B7F8-404E-BEED-96B960E228C7}" dt="2025-10-27T23:41:34.978" v="0" actId="1076"/>
          <ac:picMkLst>
            <pc:docMk/>
            <pc:sldMk cId="0" sldId="256"/>
            <ac:picMk id="13" creationId="{976FB4CD-753F-4F47-A41F-101254B19A97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A68933-0E0B-48E1-BF04-16CC8E5AF7A0}" type="datetimeFigureOut">
              <a:rPr lang="pt-BR" smtClean="0"/>
              <a:t>27/10/2025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1BF0138-71D6-41DA-867A-2B80F4560D2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890342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BF0138-71D6-41DA-867A-2B80F4560D28}" type="slidenum">
              <a:rPr lang="pt-BR" smtClean="0"/>
              <a:t>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892167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grad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13" name="Imagem 12" descr="Diagrama, Desenho técnico">
            <a:extLst>
              <a:ext uri="{FF2B5EF4-FFF2-40B4-BE49-F238E27FC236}">
                <a16:creationId xmlns:a16="http://schemas.microsoft.com/office/drawing/2014/main" id="{976FB4CD-753F-4F47-A41F-101254B19A97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6000"/>
          </a:blip>
          <a:stretch>
            <a:fillRect/>
          </a:stretch>
        </p:blipFill>
        <p:spPr>
          <a:xfrm>
            <a:off x="1663858" y="-27060"/>
            <a:ext cx="8970089" cy="5143500"/>
          </a:xfrm>
          <a:prstGeom prst="rect">
            <a:avLst/>
          </a:prstGeom>
        </p:spPr>
      </p:pic>
      <p:sp>
        <p:nvSpPr>
          <p:cNvPr id="3" name="Hexagon 2"/>
          <p:cNvSpPr/>
          <p:nvPr/>
        </p:nvSpPr>
        <p:spPr>
          <a:xfrm rot="1800000">
            <a:off x="7772400" y="457200"/>
            <a:ext cx="731520" cy="731520"/>
          </a:xfrm>
          <a:prstGeom prst="hexagon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4" name="Hexagon 3"/>
          <p:cNvSpPr/>
          <p:nvPr/>
        </p:nvSpPr>
        <p:spPr>
          <a:xfrm rot="1800000">
            <a:off x="7132320" y="3200400"/>
            <a:ext cx="1097280" cy="1097280"/>
          </a:xfrm>
          <a:prstGeom prst="hexagon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5" name="Hexagon 4"/>
          <p:cNvSpPr/>
          <p:nvPr/>
        </p:nvSpPr>
        <p:spPr>
          <a:xfrm rot="1800000">
            <a:off x="274320" y="3657600"/>
            <a:ext cx="548640" cy="548640"/>
          </a:xfrm>
          <a:prstGeom prst="hexagon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pic>
        <p:nvPicPr>
          <p:cNvPr id="6" name="Picture 5" descr="accent_amb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37160" cy="51435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200359" y="154664"/>
            <a:ext cx="6400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90000"/>
              </a:lnSpc>
              <a:defRPr sz="7200" b="1">
                <a:solidFill>
                  <a:srgbClr val="FFFFFF"/>
                </a:solidFill>
              </a:defRPr>
            </a:pPr>
            <a:r>
              <a:rPr lang="pt-BR" noProof="0" dirty="0"/>
              <a:t>EVOLUÇÃO</a:t>
            </a:r>
          </a:p>
          <a:p>
            <a:pPr>
              <a:lnSpc>
                <a:spcPct val="90000"/>
              </a:lnSpc>
              <a:defRPr sz="7200" b="1">
                <a:solidFill>
                  <a:srgbClr val="F59E0B"/>
                </a:solidFill>
              </a:defRPr>
            </a:pPr>
            <a:r>
              <a:rPr lang="pt-BR" noProof="0" dirty="0"/>
              <a:t>TGA</a:t>
            </a:r>
          </a:p>
        </p:txBody>
      </p:sp>
      <p:sp>
        <p:nvSpPr>
          <p:cNvPr id="8" name="Rectangle 7"/>
          <p:cNvSpPr/>
          <p:nvPr/>
        </p:nvSpPr>
        <p:spPr>
          <a:xfrm>
            <a:off x="923369" y="2034906"/>
            <a:ext cx="2743200" cy="1828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9" name="TextBox 8"/>
          <p:cNvSpPr txBox="1"/>
          <p:nvPr/>
        </p:nvSpPr>
        <p:spPr>
          <a:xfrm>
            <a:off x="835742" y="2316090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CBD5E1"/>
                </a:solidFill>
              </a:defRPr>
            </a:pPr>
            <a:r>
              <a:rPr lang="pt-BR" noProof="0" dirty="0"/>
              <a:t>DE SISTEMA PARA PLATAFORMA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803965"/>
            <a:ext cx="5943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  <a:defRPr sz="1400">
                <a:solidFill>
                  <a:srgbClr val="94A3B8"/>
                </a:solidFill>
              </a:defRPr>
            </a:pPr>
            <a:r>
              <a:rPr lang="pt-BR" noProof="0"/>
              <a:t>A transformação estratégica da nossa tecnologia</a:t>
            </a:r>
          </a:p>
          <a:p>
            <a:pPr>
              <a:lnSpc>
                <a:spcPct val="150000"/>
              </a:lnSpc>
              <a:defRPr sz="1400">
                <a:solidFill>
                  <a:srgbClr val="94A3B8"/>
                </a:solidFill>
              </a:defRPr>
            </a:pPr>
            <a:r>
              <a:rPr lang="pt-BR" noProof="0" dirty="0"/>
              <a:t>De código técnico para arquitetura de marca premium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4297680"/>
            <a:ext cx="2560320" cy="50292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2" name="TextBox 11"/>
          <p:cNvSpPr txBox="1"/>
          <p:nvPr/>
        </p:nvSpPr>
        <p:spPr>
          <a:xfrm>
            <a:off x="914400" y="4297680"/>
            <a:ext cx="256032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0F172A"/>
                </a:solidFill>
              </a:defRPr>
            </a:pPr>
            <a:r>
              <a:rPr lang="pt-BR" noProof="0" dirty="0"/>
              <a:t>ESTRATÉGIA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pic>
        <p:nvPicPr>
          <p:cNvPr id="3" name="Picture 2" descr="grad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00584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457200" y="274320"/>
            <a:ext cx="137160" cy="45720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5" name="TextBox 4"/>
          <p:cNvSpPr txBox="1"/>
          <p:nvPr/>
        </p:nvSpPr>
        <p:spPr>
          <a:xfrm>
            <a:off x="731520" y="199497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rPr lang="pt-BR" noProof="0" dirty="0"/>
              <a:t>POR QUE EVOLUIR AGORA?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3931920" cy="14630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3931920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8" name="TextBox 7"/>
          <p:cNvSpPr txBox="1"/>
          <p:nvPr/>
        </p:nvSpPr>
        <p:spPr>
          <a:xfrm>
            <a:off x="525780" y="1545336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/>
            </a:pPr>
            <a:r>
              <a:rPr lang="pt-BR" noProof="0" dirty="0"/>
              <a:t>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5475" y="1639045"/>
            <a:ext cx="2851486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rPr lang="pt-BR" sz="2000" noProof="0" dirty="0"/>
              <a:t>Crescimento exponencial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006061"/>
            <a:ext cx="3383280" cy="6675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defRPr sz="1100">
                <a:solidFill>
                  <a:srgbClr val="475569"/>
                </a:solidFill>
              </a:defRPr>
            </a:pPr>
            <a:r>
              <a:rPr lang="pt-BR" sz="1400" noProof="0" dirty="0"/>
              <a:t>De 7 módulos isolados para plataforma integrada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54880" y="1371600"/>
            <a:ext cx="3931920" cy="14630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2" name="Rectangle 11"/>
          <p:cNvSpPr/>
          <p:nvPr/>
        </p:nvSpPr>
        <p:spPr>
          <a:xfrm>
            <a:off x="4754880" y="1371600"/>
            <a:ext cx="3931920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3" name="TextBox 12"/>
          <p:cNvSpPr txBox="1"/>
          <p:nvPr/>
        </p:nvSpPr>
        <p:spPr>
          <a:xfrm>
            <a:off x="4841848" y="1545336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/>
            </a:pPr>
            <a:r>
              <a:rPr lang="pt-BR" noProof="0" dirty="0"/>
              <a:t>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33971" y="1645919"/>
            <a:ext cx="3117905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rPr lang="pt-BR" sz="2000" noProof="0" dirty="0"/>
              <a:t>Posicionamento estratégico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2038172"/>
            <a:ext cx="3383280" cy="6675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defRPr sz="1100">
                <a:solidFill>
                  <a:srgbClr val="475569"/>
                </a:solidFill>
              </a:defRPr>
            </a:pPr>
            <a:r>
              <a:rPr lang="pt-BR" sz="1400" noProof="0" dirty="0"/>
              <a:t>T1-T17 = código técnico • Nomes próprios = valor de mercado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108960"/>
            <a:ext cx="3931920" cy="14630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7" name="Rectangle 16"/>
          <p:cNvSpPr/>
          <p:nvPr/>
        </p:nvSpPr>
        <p:spPr>
          <a:xfrm>
            <a:off x="457200" y="3108960"/>
            <a:ext cx="3931920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8" name="TextBox 17"/>
          <p:cNvSpPr txBox="1"/>
          <p:nvPr/>
        </p:nvSpPr>
        <p:spPr>
          <a:xfrm>
            <a:off x="525780" y="324612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/>
            </a:pPr>
            <a:r>
              <a:rPr lang="pt-BR" noProof="0" dirty="0"/>
              <a:t>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57568" y="3383279"/>
            <a:ext cx="2385718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rPr lang="pt-BR" sz="2000" noProof="0" dirty="0"/>
              <a:t>Facilitação comercial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4380" y="3783389"/>
            <a:ext cx="3383280" cy="6675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defRPr sz="1100">
                <a:solidFill>
                  <a:srgbClr val="475569"/>
                </a:solidFill>
              </a:defRPr>
            </a:pPr>
            <a:r>
              <a:rPr lang="pt-BR" sz="1400" noProof="0" dirty="0"/>
              <a:t>Memorizar propósito, não números: facilitador de vendas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754880" y="3108960"/>
            <a:ext cx="3931920" cy="14630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22" name="Rectangle 21"/>
          <p:cNvSpPr/>
          <p:nvPr/>
        </p:nvSpPr>
        <p:spPr>
          <a:xfrm>
            <a:off x="4754880" y="3108960"/>
            <a:ext cx="3931920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23" name="TextBox 22"/>
          <p:cNvSpPr txBox="1"/>
          <p:nvPr/>
        </p:nvSpPr>
        <p:spPr>
          <a:xfrm>
            <a:off x="4841848" y="333756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/>
            </a:pPr>
            <a:r>
              <a:rPr lang="pt-BR" noProof="0" dirty="0"/>
              <a:t>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510454" y="3383279"/>
            <a:ext cx="2632965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rPr lang="pt-BR" sz="2000" noProof="0" dirty="0"/>
              <a:t>Preparação para escala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89488" y="3783388"/>
            <a:ext cx="3383280" cy="6675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defRPr sz="1100">
                <a:solidFill>
                  <a:srgbClr val="475569"/>
                </a:solidFill>
              </a:defRPr>
            </a:pPr>
            <a:r>
              <a:rPr lang="pt-BR" sz="1400" noProof="0" dirty="0"/>
              <a:t>Arquitetura moderna para captação e expansão regulatória</a:t>
            </a:r>
          </a:p>
        </p:txBody>
      </p:sp>
      <p:pic>
        <p:nvPicPr>
          <p:cNvPr id="26" name="Imagem 25" descr="Diagrama, Desenho técnico">
            <a:extLst>
              <a:ext uri="{FF2B5EF4-FFF2-40B4-BE49-F238E27FC236}">
                <a16:creationId xmlns:a16="http://schemas.microsoft.com/office/drawing/2014/main" id="{BF2220F0-CB30-F5F0-0966-EDFAA5E727B1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2000"/>
          </a:blip>
          <a:stretch>
            <a:fillRect/>
          </a:stretch>
        </p:blipFill>
        <p:spPr>
          <a:xfrm>
            <a:off x="0" y="0"/>
            <a:ext cx="9143999" cy="51435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3" name="Rectangle 2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rgbClr val="FEF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4" name="Rectangle 3"/>
          <p:cNvSpPr/>
          <p:nvPr/>
        </p:nvSpPr>
        <p:spPr>
          <a:xfrm>
            <a:off x="4526280" y="0"/>
            <a:ext cx="91440" cy="51435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5" name="TextBox 4"/>
          <p:cNvSpPr txBox="1"/>
          <p:nvPr/>
        </p:nvSpPr>
        <p:spPr>
          <a:xfrm>
            <a:off x="914400" y="45720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59E0B"/>
                </a:solidFill>
              </a:defRPr>
            </a:pPr>
            <a:r>
              <a:rPr lang="pt-BR" noProof="0" dirty="0"/>
              <a:t>A TRANSFORMAÇÃO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94A3B8"/>
                </a:solidFill>
              </a:defRPr>
            </a:pPr>
            <a:r>
              <a:rPr lang="pt-BR" noProof="0" dirty="0"/>
              <a:t>SISTEMA TGA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37360"/>
            <a:ext cx="3291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CBD5E1"/>
                </a:solidFill>
              </a:defRPr>
            </a:pPr>
            <a:r>
              <a:rPr lang="pt-BR" noProof="0" dirty="0"/>
              <a:t>T1 – Gestão de Obras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03120"/>
            <a:ext cx="3291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CBD5E1"/>
                </a:solidFill>
              </a:defRPr>
            </a:pPr>
            <a:r>
              <a:rPr lang="pt-BR" noProof="0" dirty="0"/>
              <a:t>T2 – Fluxo de Processo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68879"/>
            <a:ext cx="3291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CBD5E1"/>
                </a:solidFill>
              </a:defRPr>
            </a:pPr>
            <a:r>
              <a:rPr lang="pt-BR" noProof="0" dirty="0"/>
              <a:t>T3 – Conciliação Físico-Contábil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834639"/>
            <a:ext cx="3291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CBD5E1"/>
                </a:solidFill>
              </a:defRPr>
            </a:pPr>
            <a:r>
              <a:rPr lang="pt-BR" noProof="0" dirty="0"/>
              <a:t>T5 – Validação BDGD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200399"/>
            <a:ext cx="3291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CBD5E1"/>
                </a:solidFill>
              </a:defRPr>
            </a:pPr>
            <a:r>
              <a:rPr lang="pt-BR" noProof="0" dirty="0"/>
              <a:t>T7 – Transmissão 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566159"/>
            <a:ext cx="3291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CBD5E1"/>
                </a:solidFill>
              </a:defRPr>
            </a:pPr>
            <a:r>
              <a:rPr lang="pt-BR" noProof="0" dirty="0"/>
              <a:t>T11 – Calculadora BRR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931920"/>
            <a:ext cx="1606530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CBD5E1"/>
                </a:solidFill>
              </a:defRPr>
            </a:pPr>
            <a:r>
              <a:rPr lang="pt-BR" noProof="0" dirty="0"/>
              <a:t>T17 – Movimentação AIS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74820" y="2354579"/>
            <a:ext cx="914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59E0B"/>
                </a:solidFill>
              </a:defRPr>
            </a:pPr>
            <a:r>
              <a:rPr lang="pt-BR" noProof="0" dirty="0"/>
              <a:t>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11887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59E0B"/>
                </a:solidFill>
              </a:defRPr>
            </a:pPr>
            <a:r>
              <a:rPr lang="pt-BR" noProof="0" dirty="0"/>
              <a:t>PLATAFORMA TGA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12080" y="1737360"/>
            <a:ext cx="3291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pt-BR" sz="1200" b="1" noProof="0" dirty="0">
                <a:solidFill>
                  <a:srgbClr val="F59E0B"/>
                </a:solidFill>
              </a:rPr>
              <a:t>OPUS </a:t>
            </a:r>
            <a:r>
              <a:rPr lang="pt-BR" sz="1100" noProof="0" dirty="0">
                <a:solidFill>
                  <a:srgbClr val="0F172A"/>
                </a:solidFill>
              </a:rPr>
              <a:t>– Gestão de Obras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12080" y="2103120"/>
            <a:ext cx="2620461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pt-BR" sz="1200" b="1" noProof="0" dirty="0">
                <a:solidFill>
                  <a:srgbClr val="F59E0B"/>
                </a:solidFill>
              </a:rPr>
              <a:t>VECTO </a:t>
            </a:r>
            <a:r>
              <a:rPr lang="pt-BR" sz="1100" noProof="0" dirty="0">
                <a:solidFill>
                  <a:srgbClr val="0F172A"/>
                </a:solidFill>
              </a:rPr>
              <a:t>– Gestão Automatizada de Fluxos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12080" y="2468879"/>
            <a:ext cx="3291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pt-BR" sz="1200" b="1" noProof="0" dirty="0">
                <a:solidFill>
                  <a:srgbClr val="F59E0B"/>
                </a:solidFill>
              </a:rPr>
              <a:t>ELO </a:t>
            </a:r>
            <a:r>
              <a:rPr lang="pt-BR" sz="1100" noProof="0" dirty="0">
                <a:solidFill>
                  <a:srgbClr val="0F172A"/>
                </a:solidFill>
              </a:rPr>
              <a:t>– Conciliação Físico-Contábil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80" y="2834639"/>
            <a:ext cx="3291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pt-BR" sz="1200" b="1" noProof="0" dirty="0">
                <a:solidFill>
                  <a:srgbClr val="F59E0B"/>
                </a:solidFill>
              </a:rPr>
              <a:t>VERTEX </a:t>
            </a:r>
            <a:r>
              <a:rPr lang="pt-BR" sz="1100" noProof="0" dirty="0">
                <a:solidFill>
                  <a:srgbClr val="0F172A"/>
                </a:solidFill>
              </a:rPr>
              <a:t>– Validação BDGD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12080" y="3200399"/>
            <a:ext cx="3291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pt-BR" sz="1200" b="1" noProof="0" dirty="0">
                <a:solidFill>
                  <a:srgbClr val="F59E0B"/>
                </a:solidFill>
              </a:rPr>
              <a:t>AXON </a:t>
            </a:r>
            <a:r>
              <a:rPr lang="pt-BR" sz="1100" noProof="0" dirty="0">
                <a:solidFill>
                  <a:srgbClr val="0F172A"/>
                </a:solidFill>
              </a:rPr>
              <a:t>– Hub Transmissão 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12080" y="3566159"/>
            <a:ext cx="3291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pt-BR" sz="1200" b="1" noProof="0" dirty="0">
                <a:solidFill>
                  <a:srgbClr val="F59E0B"/>
                </a:solidFill>
              </a:rPr>
              <a:t>QUANTUM </a:t>
            </a:r>
            <a:r>
              <a:rPr lang="pt-BR" sz="1100" noProof="0" dirty="0">
                <a:solidFill>
                  <a:srgbClr val="0F172A"/>
                </a:solidFill>
              </a:rPr>
              <a:t>– Calculadora BRR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12080" y="3931920"/>
            <a:ext cx="1883977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pt-BR" sz="1200" b="1" noProof="0" dirty="0">
                <a:solidFill>
                  <a:srgbClr val="F59E0B"/>
                </a:solidFill>
              </a:rPr>
              <a:t>KINESIS </a:t>
            </a:r>
            <a:r>
              <a:rPr lang="pt-BR" sz="1100" noProof="0" dirty="0">
                <a:solidFill>
                  <a:srgbClr val="0F172A"/>
                </a:solidFill>
              </a:rPr>
              <a:t>– </a:t>
            </a:r>
            <a:r>
              <a:rPr lang="pt-BR" sz="1100" dirty="0">
                <a:solidFill>
                  <a:srgbClr val="0F172A"/>
                </a:solidFill>
              </a:rPr>
              <a:t>Movimentação</a:t>
            </a:r>
            <a:r>
              <a:rPr lang="pt-BR" sz="1100" noProof="0" dirty="0">
                <a:solidFill>
                  <a:srgbClr val="0F172A"/>
                </a:solidFill>
              </a:rPr>
              <a:t> AIS</a:t>
            </a:r>
          </a:p>
        </p:txBody>
      </p:sp>
      <p:pic>
        <p:nvPicPr>
          <p:cNvPr id="23" name="Imagem 22" descr="Diagrama, Desenho técnico">
            <a:extLst>
              <a:ext uri="{FF2B5EF4-FFF2-40B4-BE49-F238E27FC236}">
                <a16:creationId xmlns:a16="http://schemas.microsoft.com/office/drawing/2014/main" id="{1E0F9FC9-7898-428C-1B1E-1C958B2B1D8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2000"/>
          </a:blip>
          <a:stretch>
            <a:fillRect/>
          </a:stretch>
        </p:blipFill>
        <p:spPr>
          <a:xfrm>
            <a:off x="0" y="0"/>
            <a:ext cx="9143999" cy="51435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rPr lang="pt-BR" noProof="0" dirty="0"/>
              <a:t>SIGNIFICADO E PROPÓSITO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68680"/>
            <a:ext cx="228600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6" name="Rounded Rectangle 5"/>
          <p:cNvSpPr/>
          <p:nvPr/>
        </p:nvSpPr>
        <p:spPr>
          <a:xfrm>
            <a:off x="457200" y="1188720"/>
            <a:ext cx="3931920" cy="35661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7" name="Rounded Rectangle 6"/>
          <p:cNvSpPr/>
          <p:nvPr/>
        </p:nvSpPr>
        <p:spPr>
          <a:xfrm>
            <a:off x="457200" y="1188720"/>
            <a:ext cx="3931920" cy="45720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8" name="TextBox 7"/>
          <p:cNvSpPr txBox="1"/>
          <p:nvPr/>
        </p:nvSpPr>
        <p:spPr>
          <a:xfrm>
            <a:off x="708660" y="1181862"/>
            <a:ext cx="3566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rPr lang="pt-BR" noProof="0" dirty="0"/>
              <a:t>OPUS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8660" y="1913382"/>
            <a:ext cx="3566160" cy="368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100">
                <a:solidFill>
                  <a:srgbClr val="64748B"/>
                </a:solidFill>
              </a:defRPr>
            </a:pPr>
            <a:r>
              <a:rPr lang="pt-BR" sz="1600" noProof="0" dirty="0"/>
              <a:t>Gestão de Obras e Investimentos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788920"/>
            <a:ext cx="356616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800" noProof="0" dirty="0"/>
          </a:p>
        </p:txBody>
      </p:sp>
      <p:sp>
        <p:nvSpPr>
          <p:cNvPr id="11" name="TextBox 10"/>
          <p:cNvSpPr txBox="1"/>
          <p:nvPr/>
        </p:nvSpPr>
        <p:spPr>
          <a:xfrm>
            <a:off x="640080" y="2971800"/>
            <a:ext cx="914033" cy="2539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F59E0B"/>
                </a:solidFill>
              </a:defRPr>
            </a:pPr>
            <a:r>
              <a:rPr lang="pt-BR" sz="1050" noProof="0" dirty="0"/>
              <a:t>ETIMOLOGIA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154680"/>
            <a:ext cx="3566160" cy="3130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000" i="1">
                <a:solidFill>
                  <a:srgbClr val="475569"/>
                </a:solidFill>
              </a:defRPr>
            </a:pPr>
            <a:r>
              <a:rPr lang="pt-BR" sz="1200" noProof="0" dirty="0"/>
              <a:t>Do latim 'opus' = obra-prima, trabalho magistral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573539"/>
            <a:ext cx="3566160" cy="8439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defRPr sz="1000">
                <a:solidFill>
                  <a:srgbClr val="334155"/>
                </a:solidFill>
              </a:defRPr>
            </a:pPr>
            <a:r>
              <a:rPr lang="pt-BR" sz="1200" noProof="0" dirty="0"/>
              <a:t>Software premium para gestão de grandes investimentos, comunicando masterpiece de engenharia e validação de conformidade regulatória.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754880" y="1188720"/>
            <a:ext cx="3931920" cy="35661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5" name="Rounded Rectangle 14"/>
          <p:cNvSpPr/>
          <p:nvPr/>
        </p:nvSpPr>
        <p:spPr>
          <a:xfrm>
            <a:off x="4754880" y="1188720"/>
            <a:ext cx="3931920" cy="45720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6" name="TextBox 15"/>
          <p:cNvSpPr txBox="1"/>
          <p:nvPr/>
        </p:nvSpPr>
        <p:spPr>
          <a:xfrm>
            <a:off x="4937760" y="1181862"/>
            <a:ext cx="3566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rPr lang="pt-BR" noProof="0" dirty="0"/>
              <a:t>VECTO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69180" y="1913382"/>
            <a:ext cx="3566160" cy="368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100">
                <a:solidFill>
                  <a:srgbClr val="64748B"/>
                </a:solidFill>
              </a:defRPr>
            </a:pPr>
            <a:r>
              <a:rPr lang="pt-BR" sz="1600" noProof="0" dirty="0"/>
              <a:t>Automação de Fluxos Organizacionais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937760" y="2788920"/>
            <a:ext cx="356616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800" noProof="0" dirty="0"/>
          </a:p>
        </p:txBody>
      </p:sp>
      <p:sp>
        <p:nvSpPr>
          <p:cNvPr id="19" name="TextBox 18"/>
          <p:cNvSpPr txBox="1"/>
          <p:nvPr/>
        </p:nvSpPr>
        <p:spPr>
          <a:xfrm>
            <a:off x="4937760" y="2971800"/>
            <a:ext cx="914033" cy="2539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F59E0B"/>
                </a:solidFill>
              </a:defRPr>
            </a:pPr>
            <a:r>
              <a:rPr lang="pt-BR" sz="1050" noProof="0" dirty="0"/>
              <a:t>ETIMOLOGIA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37760" y="3154680"/>
            <a:ext cx="3566160" cy="3130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000" i="1">
                <a:solidFill>
                  <a:srgbClr val="475569"/>
                </a:solidFill>
              </a:defRPr>
            </a:pPr>
            <a:r>
              <a:rPr lang="pt-BR" sz="1200" noProof="0" dirty="0"/>
              <a:t>Inspirado em 'vetor' = direção e propósito definidos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37760" y="3573047"/>
            <a:ext cx="3566160" cy="8439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defRPr sz="1000">
                <a:solidFill>
                  <a:srgbClr val="334155"/>
                </a:solidFill>
              </a:defRPr>
            </a:pPr>
            <a:r>
              <a:rPr lang="pt-BR" sz="1200" noProof="0" dirty="0"/>
              <a:t>Software de direcionamento eficiente, comunicando precisão e automação inteligente de processos organizacionais.</a:t>
            </a:r>
          </a:p>
        </p:txBody>
      </p:sp>
      <p:pic>
        <p:nvPicPr>
          <p:cNvPr id="23" name="Imagem 22" descr="Diagrama, Desenho técnico">
            <a:extLst>
              <a:ext uri="{FF2B5EF4-FFF2-40B4-BE49-F238E27FC236}">
                <a16:creationId xmlns:a16="http://schemas.microsoft.com/office/drawing/2014/main" id="{E1CC7A2F-1967-5416-1A35-C96A28F9A34E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0" y="0"/>
            <a:ext cx="9143999" cy="51435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rPr lang="pt-BR" noProof="0" dirty="0"/>
              <a:t>SIGNIFICADO E PROPÓSITO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68680"/>
            <a:ext cx="2286000" cy="36576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6" name="Rounded Rectangle 5"/>
          <p:cNvSpPr/>
          <p:nvPr/>
        </p:nvSpPr>
        <p:spPr>
          <a:xfrm>
            <a:off x="457200" y="1188720"/>
            <a:ext cx="3931920" cy="35661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7" name="Rounded Rectangle 6"/>
          <p:cNvSpPr/>
          <p:nvPr/>
        </p:nvSpPr>
        <p:spPr>
          <a:xfrm>
            <a:off x="457200" y="1188720"/>
            <a:ext cx="3931920" cy="457200"/>
          </a:xfrm>
          <a:prstGeom prst="round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8" name="TextBox 7"/>
          <p:cNvSpPr txBox="1"/>
          <p:nvPr/>
        </p:nvSpPr>
        <p:spPr>
          <a:xfrm>
            <a:off x="685800" y="1188720"/>
            <a:ext cx="707822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rPr lang="pt-BR" noProof="0" dirty="0">
                <a:solidFill>
                  <a:schemeClr val="bg1"/>
                </a:solidFill>
              </a:rPr>
              <a:t>ELO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016154"/>
            <a:ext cx="3566160" cy="368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100">
                <a:solidFill>
                  <a:srgbClr val="64748B"/>
                </a:solidFill>
              </a:defRPr>
            </a:pPr>
            <a:r>
              <a:rPr lang="pt-BR" sz="1600" noProof="0" dirty="0"/>
              <a:t>Conciliação Físico-Contábil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788920"/>
            <a:ext cx="356616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800" noProof="0" dirty="0"/>
          </a:p>
        </p:txBody>
      </p:sp>
      <p:sp>
        <p:nvSpPr>
          <p:cNvPr id="11" name="TextBox 10"/>
          <p:cNvSpPr txBox="1"/>
          <p:nvPr/>
        </p:nvSpPr>
        <p:spPr>
          <a:xfrm>
            <a:off x="640080" y="2971800"/>
            <a:ext cx="914033" cy="2539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E40AF"/>
                </a:solidFill>
              </a:defRPr>
            </a:pPr>
            <a:r>
              <a:rPr lang="pt-BR" sz="1050" noProof="0" dirty="0"/>
              <a:t>ETIMOLOGIA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154680"/>
            <a:ext cx="3566160" cy="553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000" i="1">
                <a:solidFill>
                  <a:srgbClr val="475569"/>
                </a:solidFill>
              </a:defRPr>
            </a:pPr>
            <a:r>
              <a:rPr lang="pt-BR" sz="1200" noProof="0" dirty="0"/>
              <a:t>Português 'elo' = conexão essencial, ligação fundamental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662071"/>
            <a:ext cx="3566160" cy="8439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defRPr sz="1000">
                <a:solidFill>
                  <a:srgbClr val="334155"/>
                </a:solidFill>
              </a:defRPr>
            </a:pPr>
            <a:r>
              <a:rPr lang="pt-BR" sz="1200" noProof="0" dirty="0"/>
              <a:t>Software que conecta mundos físico e contábil, comunicando integração imediata e confiável. Nome brasileiro, simples e acessível.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754880" y="1188720"/>
            <a:ext cx="3931920" cy="35661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5" name="Rounded Rectangle 14"/>
          <p:cNvSpPr/>
          <p:nvPr/>
        </p:nvSpPr>
        <p:spPr>
          <a:xfrm>
            <a:off x="4754880" y="1188720"/>
            <a:ext cx="3931920" cy="457200"/>
          </a:xfrm>
          <a:prstGeom prst="round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6" name="TextBox 15"/>
          <p:cNvSpPr txBox="1"/>
          <p:nvPr/>
        </p:nvSpPr>
        <p:spPr>
          <a:xfrm>
            <a:off x="4983480" y="1188720"/>
            <a:ext cx="1239378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rPr lang="pt-BR" noProof="0" dirty="0">
                <a:solidFill>
                  <a:schemeClr val="bg1"/>
                </a:solidFill>
              </a:rPr>
              <a:t>VERTEX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37760" y="2016154"/>
            <a:ext cx="3566160" cy="368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100">
                <a:solidFill>
                  <a:srgbClr val="64748B"/>
                </a:solidFill>
              </a:defRPr>
            </a:pPr>
            <a:r>
              <a:rPr lang="pt-BR" sz="1600" noProof="0" dirty="0"/>
              <a:t>Validação BDGD Geográfica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937760" y="2788920"/>
            <a:ext cx="356616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800" noProof="0" dirty="0"/>
          </a:p>
        </p:txBody>
      </p:sp>
      <p:sp>
        <p:nvSpPr>
          <p:cNvPr id="19" name="TextBox 18"/>
          <p:cNvSpPr txBox="1"/>
          <p:nvPr/>
        </p:nvSpPr>
        <p:spPr>
          <a:xfrm>
            <a:off x="4937760" y="2971800"/>
            <a:ext cx="914033" cy="2539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E40AF"/>
                </a:solidFill>
              </a:defRPr>
            </a:pPr>
            <a:r>
              <a:rPr lang="pt-BR" sz="1050" noProof="0" dirty="0"/>
              <a:t>ETIMOLOGIA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37760" y="3154680"/>
            <a:ext cx="3566160" cy="3130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000" i="1">
                <a:solidFill>
                  <a:srgbClr val="475569"/>
                </a:solidFill>
              </a:defRPr>
            </a:pPr>
            <a:r>
              <a:rPr lang="pt-BR" sz="1200" noProof="0" dirty="0"/>
              <a:t>Do latim '</a:t>
            </a:r>
            <a:r>
              <a:rPr lang="pt-BR" sz="1200" noProof="0" dirty="0" err="1"/>
              <a:t>vertex</a:t>
            </a:r>
            <a:r>
              <a:rPr lang="pt-BR" sz="1200" noProof="0" dirty="0"/>
              <a:t>' = vértice, ponto de máxima precisão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37760" y="3662071"/>
            <a:ext cx="3566160" cy="5854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defRPr sz="1000">
                <a:solidFill>
                  <a:srgbClr val="334155"/>
                </a:solidFill>
              </a:defRPr>
            </a:pPr>
            <a:r>
              <a:rPr lang="pt-BR" sz="1200" noProof="0" dirty="0"/>
              <a:t>Precisão geográfica para conformidade regulatória, enfatizando exatidão técnica e precisão matemática.</a:t>
            </a:r>
          </a:p>
        </p:txBody>
      </p:sp>
      <p:pic>
        <p:nvPicPr>
          <p:cNvPr id="22" name="Imagem 21" descr="Diagrama, Desenho técnico">
            <a:extLst>
              <a:ext uri="{FF2B5EF4-FFF2-40B4-BE49-F238E27FC236}">
                <a16:creationId xmlns:a16="http://schemas.microsoft.com/office/drawing/2014/main" id="{52B1CE36-76B9-9D6A-6470-9ADE1592ACB7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0" y="0"/>
            <a:ext cx="9143999" cy="51435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rPr lang="pt-BR" noProof="0" dirty="0"/>
              <a:t>SIGNIFICADO E PROPÓSITO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68680"/>
            <a:ext cx="2286000" cy="365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6" name="Rounded Rectangle 5"/>
          <p:cNvSpPr/>
          <p:nvPr/>
        </p:nvSpPr>
        <p:spPr>
          <a:xfrm>
            <a:off x="457200" y="1188720"/>
            <a:ext cx="2560320" cy="35661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7" name="Rounded Rectangle 6"/>
          <p:cNvSpPr/>
          <p:nvPr/>
        </p:nvSpPr>
        <p:spPr>
          <a:xfrm>
            <a:off x="457200" y="1188720"/>
            <a:ext cx="2560320" cy="45720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8" name="TextBox 7"/>
          <p:cNvSpPr txBox="1"/>
          <p:nvPr/>
        </p:nvSpPr>
        <p:spPr>
          <a:xfrm>
            <a:off x="594360" y="1202436"/>
            <a:ext cx="878767" cy="430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rPr lang="pt-BR" noProof="0" dirty="0">
                <a:solidFill>
                  <a:schemeClr val="bg1"/>
                </a:solidFill>
              </a:rPr>
              <a:t>AX</a:t>
            </a:r>
            <a:r>
              <a:rPr lang="pt-BR" noProof="0" dirty="0">
                <a:solidFill>
                  <a:srgbClr val="FFC000"/>
                </a:solidFill>
              </a:rPr>
              <a:t>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2940" y="1929384"/>
            <a:ext cx="2194560" cy="29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000">
                <a:solidFill>
                  <a:srgbClr val="64748B"/>
                </a:solidFill>
              </a:defRPr>
            </a:pPr>
            <a:r>
              <a:rPr lang="pt-BR" sz="1200" noProof="0" dirty="0"/>
              <a:t>Hub de Transmissão ONS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62940" y="2478024"/>
            <a:ext cx="219456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800" noProof="0" dirty="0"/>
          </a:p>
        </p:txBody>
      </p:sp>
      <p:sp>
        <p:nvSpPr>
          <p:cNvPr id="11" name="TextBox 10"/>
          <p:cNvSpPr txBox="1"/>
          <p:nvPr/>
        </p:nvSpPr>
        <p:spPr>
          <a:xfrm>
            <a:off x="662940" y="2732053"/>
            <a:ext cx="914033" cy="2539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7C3AED"/>
                </a:solidFill>
              </a:defRPr>
            </a:pPr>
            <a:r>
              <a:rPr lang="pt-BR" sz="1050" noProof="0" dirty="0"/>
              <a:t>ETIMOLOGIA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" y="2914933"/>
            <a:ext cx="2194560" cy="553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000" i="1">
                <a:solidFill>
                  <a:srgbClr val="475569"/>
                </a:solidFill>
              </a:defRPr>
            </a:pPr>
            <a:r>
              <a:rPr lang="pt-BR" sz="1200" noProof="0" dirty="0"/>
              <a:t>Inspirado em 'axônio' = transmissão neural eficiente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" y="3555013"/>
            <a:ext cx="2194560" cy="8439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defRPr sz="1000">
                <a:solidFill>
                  <a:srgbClr val="334155"/>
                </a:solidFill>
              </a:defRPr>
            </a:pPr>
            <a:r>
              <a:rPr lang="pt-BR" sz="1200" noProof="0" dirty="0"/>
              <a:t>Hub confiável de conectividade ONS. Metáfora neural sugere inteligência superior.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83280" y="1188720"/>
            <a:ext cx="2560320" cy="35661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5" name="Rounded Rectangle 14"/>
          <p:cNvSpPr/>
          <p:nvPr/>
        </p:nvSpPr>
        <p:spPr>
          <a:xfrm>
            <a:off x="3383280" y="1188720"/>
            <a:ext cx="2560320" cy="45720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6" name="TextBox 15"/>
          <p:cNvSpPr txBox="1"/>
          <p:nvPr/>
        </p:nvSpPr>
        <p:spPr>
          <a:xfrm>
            <a:off x="3520440" y="1202436"/>
            <a:ext cx="1483548" cy="430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rPr lang="pt-BR" noProof="0" dirty="0">
                <a:solidFill>
                  <a:schemeClr val="bg1"/>
                </a:solidFill>
              </a:rPr>
              <a:t>QUANTUM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89020" y="1929384"/>
            <a:ext cx="2194560" cy="29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000">
                <a:solidFill>
                  <a:srgbClr val="64748B"/>
                </a:solidFill>
              </a:defRPr>
            </a:pPr>
            <a:r>
              <a:rPr lang="pt-BR" sz="1200" noProof="0" dirty="0"/>
              <a:t>Calculadora BRR Automática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589020" y="2478024"/>
            <a:ext cx="219456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800" noProof="0" dirty="0"/>
          </a:p>
        </p:txBody>
      </p:sp>
      <p:sp>
        <p:nvSpPr>
          <p:cNvPr id="19" name="TextBox 18"/>
          <p:cNvSpPr txBox="1"/>
          <p:nvPr/>
        </p:nvSpPr>
        <p:spPr>
          <a:xfrm>
            <a:off x="3589020" y="2732053"/>
            <a:ext cx="914033" cy="2539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7C3AED"/>
                </a:solidFill>
              </a:defRPr>
            </a:pPr>
            <a:r>
              <a:rPr lang="pt-BR" sz="1050" noProof="0" dirty="0"/>
              <a:t>ETIMOLOGIA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89020" y="2914933"/>
            <a:ext cx="2194560" cy="553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000" i="1">
                <a:solidFill>
                  <a:srgbClr val="475569"/>
                </a:solidFill>
              </a:defRPr>
            </a:pPr>
            <a:r>
              <a:rPr lang="pt-BR" sz="1200" noProof="0" dirty="0"/>
              <a:t>Quantidade discreta fundamental de energia/valor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89020" y="3555013"/>
            <a:ext cx="2194560" cy="8439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defRPr sz="1000">
                <a:solidFill>
                  <a:srgbClr val="334155"/>
                </a:solidFill>
              </a:defRPr>
            </a:pPr>
            <a:r>
              <a:rPr lang="pt-BR" sz="1200" noProof="0" dirty="0"/>
              <a:t>Precisão matemática para cálculos críticos de remuneração regulatória.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09360" y="1188720"/>
            <a:ext cx="2560320" cy="35661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23" name="Rounded Rectangle 22"/>
          <p:cNvSpPr/>
          <p:nvPr/>
        </p:nvSpPr>
        <p:spPr>
          <a:xfrm>
            <a:off x="6309360" y="1188720"/>
            <a:ext cx="2560320" cy="45720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24" name="TextBox 23"/>
          <p:cNvSpPr txBox="1"/>
          <p:nvPr/>
        </p:nvSpPr>
        <p:spPr>
          <a:xfrm>
            <a:off x="6446520" y="1202436"/>
            <a:ext cx="1076385" cy="430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rPr lang="pt-BR" noProof="0" dirty="0">
                <a:solidFill>
                  <a:schemeClr val="bg1"/>
                </a:solidFill>
              </a:rPr>
              <a:t>KINESIS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15100" y="1929384"/>
            <a:ext cx="2194560" cy="520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000">
                <a:solidFill>
                  <a:srgbClr val="64748B"/>
                </a:solidFill>
              </a:defRPr>
            </a:pPr>
            <a:r>
              <a:rPr lang="pt-BR" sz="1200" noProof="0" dirty="0"/>
              <a:t>Rastreador de Movimentações AIS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15100" y="2478024"/>
            <a:ext cx="219456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800" noProof="0" dirty="0"/>
          </a:p>
        </p:txBody>
      </p:sp>
      <p:sp>
        <p:nvSpPr>
          <p:cNvPr id="27" name="TextBox 26"/>
          <p:cNvSpPr txBox="1"/>
          <p:nvPr/>
        </p:nvSpPr>
        <p:spPr>
          <a:xfrm>
            <a:off x="6515100" y="2732053"/>
            <a:ext cx="914033" cy="2539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7C3AED"/>
                </a:solidFill>
              </a:defRPr>
            </a:pPr>
            <a:r>
              <a:rPr lang="pt-BR" sz="1050" noProof="0" dirty="0"/>
              <a:t>ETIMOLOGIA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15100" y="2914933"/>
            <a:ext cx="2194560" cy="553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000" i="1">
                <a:solidFill>
                  <a:srgbClr val="475569"/>
                </a:solidFill>
              </a:defRPr>
            </a:pPr>
            <a:r>
              <a:rPr lang="pt-BR" sz="1200" noProof="0" dirty="0"/>
              <a:t>Do grego '</a:t>
            </a:r>
            <a:r>
              <a:rPr lang="pt-BR" sz="1200" noProof="0" dirty="0" err="1"/>
              <a:t>kinesis</a:t>
            </a:r>
            <a:r>
              <a:rPr lang="pt-BR" sz="1200" noProof="0" dirty="0"/>
              <a:t>' = movimento controlado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15100" y="3555013"/>
            <a:ext cx="2194560" cy="8439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defRPr sz="1000">
                <a:solidFill>
                  <a:srgbClr val="334155"/>
                </a:solidFill>
              </a:defRPr>
            </a:pPr>
            <a:r>
              <a:rPr lang="pt-BR" sz="1200" noProof="0" dirty="0"/>
              <a:t>Controle dinâmico e rastreabilidade completa de ativos imobilizados.</a:t>
            </a:r>
          </a:p>
        </p:txBody>
      </p:sp>
      <p:pic>
        <p:nvPicPr>
          <p:cNvPr id="30" name="Imagem 29" descr="Diagrama, Desenho técnico">
            <a:extLst>
              <a:ext uri="{FF2B5EF4-FFF2-40B4-BE49-F238E27FC236}">
                <a16:creationId xmlns:a16="http://schemas.microsoft.com/office/drawing/2014/main" id="{02973C06-175B-1636-307F-8A3B562C60F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0" y="0"/>
            <a:ext cx="9143999" cy="51435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grad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pic>
        <p:nvPicPr>
          <p:cNvPr id="21" name="Imagem 20" descr="Diagrama, Desenho técnico">
            <a:extLst>
              <a:ext uri="{FF2B5EF4-FFF2-40B4-BE49-F238E27FC236}">
                <a16:creationId xmlns:a16="http://schemas.microsoft.com/office/drawing/2014/main" id="{80404EAC-1C08-E445-81BA-AABE7013B3D3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6000"/>
          </a:blip>
          <a:stretch>
            <a:fillRect/>
          </a:stretch>
        </p:blipFill>
        <p:spPr>
          <a:xfrm>
            <a:off x="0" y="0"/>
            <a:ext cx="9143999" cy="51435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54864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59E0B"/>
                </a:solidFill>
              </a:defRPr>
            </a:pPr>
            <a:r>
              <a:rPr lang="pt-BR" noProof="0" dirty="0"/>
              <a:t>BENEFÍCIOS ESTRATÉGICOS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011680" cy="1188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6" name="TextBox 5"/>
          <p:cNvSpPr txBox="1"/>
          <p:nvPr/>
        </p:nvSpPr>
        <p:spPr>
          <a:xfrm>
            <a:off x="679164" y="1665095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/>
            </a:pPr>
            <a:r>
              <a:rPr lang="pt-BR" noProof="0" dirty="0"/>
              <a:t>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03021" y="1704174"/>
            <a:ext cx="960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0000"/>
              </a:lnSpc>
              <a:defRPr sz="1400" b="1">
                <a:solidFill>
                  <a:srgbClr val="F59E0B"/>
                </a:solidFill>
              </a:defRPr>
            </a:pPr>
            <a:r>
              <a:rPr lang="pt-BR" noProof="0" dirty="0"/>
              <a:t>Memorização</a:t>
            </a:r>
          </a:p>
          <a:p>
            <a:pPr>
              <a:lnSpc>
                <a:spcPct val="110000"/>
              </a:lnSpc>
              <a:defRPr sz="1400" b="1">
                <a:solidFill>
                  <a:srgbClr val="F59E0B"/>
                </a:solidFill>
              </a:defRPr>
            </a:pPr>
            <a:r>
              <a:rPr lang="pt-BR" noProof="0" dirty="0"/>
              <a:t>Instantânea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226513"/>
            <a:ext cx="1600200" cy="47628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lnSpc>
                <a:spcPct val="130000"/>
              </a:lnSpc>
              <a:defRPr sz="1000">
                <a:solidFill>
                  <a:srgbClr val="0F172A"/>
                </a:solidFill>
              </a:defRPr>
            </a:lvl1pPr>
          </a:lstStyle>
          <a:p>
            <a:r>
              <a:rPr lang="pt-BR" dirty="0"/>
              <a:t>Nomes significativos fixam propósito na mente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017520"/>
            <a:ext cx="2011680" cy="1188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0" name="TextBox 9"/>
          <p:cNvSpPr txBox="1"/>
          <p:nvPr/>
        </p:nvSpPr>
        <p:spPr>
          <a:xfrm>
            <a:off x="708660" y="2993923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/>
            </a:pPr>
            <a:r>
              <a:rPr lang="pt-BR" noProof="0" dirty="0"/>
              <a:t>💎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3039643"/>
            <a:ext cx="960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0000"/>
              </a:lnSpc>
              <a:defRPr sz="1400" b="1">
                <a:solidFill>
                  <a:srgbClr val="F59E0B"/>
                </a:solidFill>
              </a:defRPr>
            </a:pPr>
            <a:r>
              <a:rPr lang="pt-BR" noProof="0" dirty="0"/>
              <a:t>Percepção</a:t>
            </a:r>
          </a:p>
          <a:p>
            <a:pPr>
              <a:lnSpc>
                <a:spcPct val="110000"/>
              </a:lnSpc>
              <a:defRPr sz="1400" b="1">
                <a:solidFill>
                  <a:srgbClr val="F59E0B"/>
                </a:solidFill>
              </a:defRPr>
            </a:pPr>
            <a:r>
              <a:rPr lang="pt-BR" noProof="0" dirty="0"/>
              <a:t>de Valor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595164"/>
            <a:ext cx="1600200" cy="4762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000">
                <a:solidFill>
                  <a:srgbClr val="FFFFFF"/>
                </a:solidFill>
              </a:defRPr>
            </a:pPr>
            <a:r>
              <a:rPr lang="pt-BR" noProof="0" dirty="0">
                <a:solidFill>
                  <a:srgbClr val="0F172A"/>
                </a:solidFill>
              </a:rPr>
              <a:t>Eleva posicionamento para solução estratégica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017520" y="1645920"/>
            <a:ext cx="2011680" cy="1188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4" name="TextBox 13"/>
          <p:cNvSpPr txBox="1"/>
          <p:nvPr/>
        </p:nvSpPr>
        <p:spPr>
          <a:xfrm>
            <a:off x="2988024" y="1733675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/>
            </a:pPr>
            <a:r>
              <a:rPr lang="pt-BR" noProof="0" dirty="0"/>
              <a:t>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49040" y="1704174"/>
            <a:ext cx="960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0000"/>
              </a:lnSpc>
              <a:defRPr sz="1400" b="1">
                <a:solidFill>
                  <a:srgbClr val="F59E0B"/>
                </a:solidFill>
              </a:defRPr>
            </a:pPr>
            <a:r>
              <a:rPr lang="pt-BR" noProof="0" dirty="0"/>
              <a:t>Escalabilidade</a:t>
            </a:r>
          </a:p>
          <a:p>
            <a:pPr>
              <a:lnSpc>
                <a:spcPct val="110000"/>
              </a:lnSpc>
              <a:defRPr sz="1400" b="1">
                <a:solidFill>
                  <a:srgbClr val="F59E0B"/>
                </a:solidFill>
              </a:defRPr>
            </a:pPr>
            <a:r>
              <a:rPr lang="pt-BR" noProof="0" dirty="0"/>
              <a:t>Comercial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06183" y="2226513"/>
            <a:ext cx="1600200" cy="47628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lnSpc>
                <a:spcPct val="130000"/>
              </a:lnSpc>
              <a:defRPr sz="1000">
                <a:solidFill>
                  <a:srgbClr val="0F172A"/>
                </a:solidFill>
              </a:defRPr>
            </a:lvl1pPr>
          </a:lstStyle>
          <a:p>
            <a:r>
              <a:rPr lang="pt-BR" dirty="0"/>
              <a:t>Facilita expansão e onboarding de clientes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017520" y="3017520"/>
            <a:ext cx="2011680" cy="1188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8" name="TextBox 17"/>
          <p:cNvSpPr txBox="1"/>
          <p:nvPr/>
        </p:nvSpPr>
        <p:spPr>
          <a:xfrm>
            <a:off x="2994660" y="3039643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/>
            </a:pPr>
            <a:r>
              <a:rPr lang="pt-BR" noProof="0" dirty="0"/>
              <a:t>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80460" y="3085363"/>
            <a:ext cx="960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0000"/>
              </a:lnSpc>
              <a:defRPr sz="1400" b="1">
                <a:solidFill>
                  <a:srgbClr val="F59E0B"/>
                </a:solidFill>
              </a:defRPr>
            </a:pPr>
            <a:r>
              <a:rPr lang="pt-BR" noProof="0" dirty="0"/>
              <a:t>Diferenciação</a:t>
            </a:r>
          </a:p>
          <a:p>
            <a:pPr>
              <a:lnSpc>
                <a:spcPct val="110000"/>
              </a:lnSpc>
              <a:defRPr sz="1400" b="1">
                <a:solidFill>
                  <a:srgbClr val="F59E0B"/>
                </a:solidFill>
              </a:defRPr>
            </a:pPr>
            <a:r>
              <a:rPr lang="pt-BR" noProof="0" dirty="0"/>
              <a:t>Competitiva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60420" y="3641778"/>
            <a:ext cx="1600200" cy="47628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lnSpc>
                <a:spcPct val="130000"/>
              </a:lnSpc>
              <a:defRPr sz="1000">
                <a:solidFill>
                  <a:srgbClr val="0F172A"/>
                </a:solidFill>
              </a:defRPr>
            </a:lvl1pPr>
          </a:lstStyle>
          <a:p>
            <a:r>
              <a:rPr lang="pt-BR" dirty="0"/>
              <a:t>Única plataforma com arquitetura premium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grad_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1" name="Imagem 30" descr="Diagrama, Desenho técnico">
            <a:extLst>
              <a:ext uri="{FF2B5EF4-FFF2-40B4-BE49-F238E27FC236}">
                <a16:creationId xmlns:a16="http://schemas.microsoft.com/office/drawing/2014/main" id="{E2A98473-96C4-0970-DC01-6FA519590BEE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6000"/>
          </a:blip>
          <a:stretch>
            <a:fillRect/>
          </a:stretch>
        </p:blipFill>
        <p:spPr>
          <a:xfrm>
            <a:off x="0" y="0"/>
            <a:ext cx="9143999" cy="5143500"/>
          </a:xfrm>
          <a:prstGeom prst="rect">
            <a:avLst/>
          </a:prstGeom>
        </p:spPr>
      </p:pic>
      <p:sp>
        <p:nvSpPr>
          <p:cNvPr id="3" name="Hexagon 2"/>
          <p:cNvSpPr/>
          <p:nvPr/>
        </p:nvSpPr>
        <p:spPr>
          <a:xfrm rot="1800000">
            <a:off x="628099" y="298647"/>
            <a:ext cx="914400" cy="914400"/>
          </a:xfrm>
          <a:prstGeom prst="hexagon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4" name="Hexagon 3"/>
          <p:cNvSpPr/>
          <p:nvPr/>
        </p:nvSpPr>
        <p:spPr>
          <a:xfrm rot="1800000">
            <a:off x="365761" y="3542967"/>
            <a:ext cx="731520" cy="731520"/>
          </a:xfrm>
          <a:prstGeom prst="hexagon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5" name="Hexagon 4"/>
          <p:cNvSpPr/>
          <p:nvPr/>
        </p:nvSpPr>
        <p:spPr>
          <a:xfrm rot="1800000">
            <a:off x="7881565" y="4345196"/>
            <a:ext cx="548640" cy="548640"/>
          </a:xfrm>
          <a:prstGeom prst="hexagon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6" name="TextBox 5"/>
          <p:cNvSpPr txBox="1"/>
          <p:nvPr/>
        </p:nvSpPr>
        <p:spPr>
          <a:xfrm>
            <a:off x="584036" y="524273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200" b="1">
                <a:solidFill>
                  <a:srgbClr val="F59E0B"/>
                </a:solidFill>
              </a:defRPr>
            </a:pPr>
            <a:r>
              <a:rPr lang="pt-BR" noProof="0" dirty="0"/>
              <a:t>PLATAFORMA TGA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4036" y="1118633"/>
            <a:ext cx="7680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CBD5E1"/>
                </a:solidFill>
              </a:defRPr>
            </a:pPr>
            <a:r>
              <a:rPr lang="pt-BR" noProof="0" dirty="0"/>
              <a:t>Ecossistema Integrado de Soluções Regulatórias</a:t>
            </a:r>
          </a:p>
        </p:txBody>
      </p:sp>
      <p:sp>
        <p:nvSpPr>
          <p:cNvPr id="8" name="Hexagon 7"/>
          <p:cNvSpPr/>
          <p:nvPr/>
        </p:nvSpPr>
        <p:spPr>
          <a:xfrm rot="1800000">
            <a:off x="660510" y="1944508"/>
            <a:ext cx="1371600" cy="1097280"/>
          </a:xfrm>
          <a:prstGeom prst="hexagon">
            <a:avLst/>
          </a:prstGeom>
          <a:solidFill>
            <a:srgbClr val="1E293B"/>
          </a:solidFill>
          <a:ln w="254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9" name="TextBox 8"/>
          <p:cNvSpPr txBox="1"/>
          <p:nvPr/>
        </p:nvSpPr>
        <p:spPr>
          <a:xfrm>
            <a:off x="797670" y="2264548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59E0B"/>
                </a:solidFill>
              </a:defRPr>
            </a:pPr>
            <a:r>
              <a:rPr lang="pt-BR" noProof="0" dirty="0"/>
              <a:t>OPUS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7670" y="253886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>
                <a:solidFill>
                  <a:srgbClr val="94A3B8"/>
                </a:solidFill>
              </a:defRPr>
            </a:pPr>
            <a:r>
              <a:rPr lang="pt-BR" noProof="0" dirty="0"/>
              <a:t>Gestão de Obras</a:t>
            </a:r>
          </a:p>
        </p:txBody>
      </p:sp>
      <p:sp>
        <p:nvSpPr>
          <p:cNvPr id="11" name="Hexagon 10"/>
          <p:cNvSpPr/>
          <p:nvPr/>
        </p:nvSpPr>
        <p:spPr>
          <a:xfrm rot="1800000">
            <a:off x="1937606" y="3125919"/>
            <a:ext cx="1371600" cy="1097280"/>
          </a:xfrm>
          <a:prstGeom prst="hexagon">
            <a:avLst/>
          </a:prstGeom>
          <a:solidFill>
            <a:srgbClr val="1E293B"/>
          </a:solidFill>
          <a:ln w="254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2" name="TextBox 11"/>
          <p:cNvSpPr txBox="1"/>
          <p:nvPr/>
        </p:nvSpPr>
        <p:spPr>
          <a:xfrm>
            <a:off x="2074766" y="3445959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59E0B"/>
                </a:solidFill>
              </a:defRPr>
            </a:pPr>
            <a:r>
              <a:rPr lang="pt-BR" noProof="0" dirty="0"/>
              <a:t>VECTO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74766" y="3720279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>
                <a:solidFill>
                  <a:srgbClr val="94A3B8"/>
                </a:solidFill>
              </a:defRPr>
            </a:pPr>
            <a:r>
              <a:rPr lang="pt-BR" noProof="0" dirty="0"/>
              <a:t>Automação</a:t>
            </a:r>
          </a:p>
        </p:txBody>
      </p:sp>
      <p:sp>
        <p:nvSpPr>
          <p:cNvPr id="14" name="Hexagon 13"/>
          <p:cNvSpPr/>
          <p:nvPr/>
        </p:nvSpPr>
        <p:spPr>
          <a:xfrm rot="1800000">
            <a:off x="5346177" y="1863224"/>
            <a:ext cx="1371600" cy="1097280"/>
          </a:xfrm>
          <a:prstGeom prst="hexagon">
            <a:avLst/>
          </a:prstGeom>
          <a:solidFill>
            <a:srgbClr val="1E293B"/>
          </a:solidFill>
          <a:ln w="254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5" name="TextBox 14"/>
          <p:cNvSpPr txBox="1"/>
          <p:nvPr/>
        </p:nvSpPr>
        <p:spPr>
          <a:xfrm>
            <a:off x="5483337" y="2183264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59E0B"/>
                </a:solidFill>
              </a:defRPr>
            </a:pPr>
            <a:r>
              <a:rPr lang="pt-BR" noProof="0" dirty="0"/>
              <a:t>ELO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3337" y="2457584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>
                <a:solidFill>
                  <a:srgbClr val="94A3B8"/>
                </a:solidFill>
              </a:defRPr>
            </a:pPr>
            <a:r>
              <a:rPr lang="pt-BR" noProof="0" dirty="0"/>
              <a:t>Conciliação</a:t>
            </a:r>
          </a:p>
        </p:txBody>
      </p:sp>
      <p:sp>
        <p:nvSpPr>
          <p:cNvPr id="17" name="Hexagon 16"/>
          <p:cNvSpPr/>
          <p:nvPr/>
        </p:nvSpPr>
        <p:spPr>
          <a:xfrm rot="1800000">
            <a:off x="2943445" y="1817504"/>
            <a:ext cx="1371600" cy="1097280"/>
          </a:xfrm>
          <a:prstGeom prst="hexagon">
            <a:avLst/>
          </a:prstGeom>
          <a:solidFill>
            <a:srgbClr val="1E293B"/>
          </a:solidFill>
          <a:ln w="254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8" name="TextBox 17"/>
          <p:cNvSpPr txBox="1"/>
          <p:nvPr/>
        </p:nvSpPr>
        <p:spPr>
          <a:xfrm>
            <a:off x="3080605" y="2137544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59E0B"/>
                </a:solidFill>
              </a:defRPr>
            </a:pPr>
            <a:r>
              <a:rPr lang="pt-BR" noProof="0" dirty="0"/>
              <a:t>VERTEX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80605" y="2411864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>
                <a:solidFill>
                  <a:srgbClr val="94A3B8"/>
                </a:solidFill>
              </a:defRPr>
            </a:pPr>
            <a:r>
              <a:rPr lang="pt-BR" noProof="0" dirty="0"/>
              <a:t>Validação BDGD</a:t>
            </a:r>
          </a:p>
        </p:txBody>
      </p:sp>
      <p:sp>
        <p:nvSpPr>
          <p:cNvPr id="20" name="Hexagon 19"/>
          <p:cNvSpPr/>
          <p:nvPr/>
        </p:nvSpPr>
        <p:spPr>
          <a:xfrm rot="1800000">
            <a:off x="4181169" y="3028706"/>
            <a:ext cx="1371600" cy="1097280"/>
          </a:xfrm>
          <a:prstGeom prst="hexagon">
            <a:avLst/>
          </a:prstGeom>
          <a:solidFill>
            <a:srgbClr val="1E293B"/>
          </a:solidFill>
          <a:ln w="254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21" name="TextBox 20"/>
          <p:cNvSpPr txBox="1"/>
          <p:nvPr/>
        </p:nvSpPr>
        <p:spPr>
          <a:xfrm>
            <a:off x="4318329" y="3348746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59E0B"/>
                </a:solidFill>
              </a:defRPr>
            </a:pPr>
            <a:r>
              <a:rPr lang="pt-BR" noProof="0" dirty="0"/>
              <a:t>AXON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18329" y="3623066"/>
            <a:ext cx="10972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>
                <a:solidFill>
                  <a:srgbClr val="94A3B8"/>
                </a:solidFill>
              </a:defRPr>
            </a:pPr>
            <a:r>
              <a:rPr lang="pt-BR" noProof="0" dirty="0"/>
              <a:t>Hub </a:t>
            </a:r>
            <a:r>
              <a:rPr lang="pt-BR" dirty="0"/>
              <a:t>ON</a:t>
            </a:r>
            <a:r>
              <a:rPr lang="pt-BR" noProof="0" dirty="0"/>
              <a:t>S</a:t>
            </a:r>
          </a:p>
          <a:p>
            <a:pPr algn="ctr">
              <a:defRPr sz="800">
                <a:solidFill>
                  <a:srgbClr val="94A3B8"/>
                </a:solidFill>
              </a:defRPr>
            </a:pPr>
            <a:r>
              <a:rPr lang="pt-BR" dirty="0"/>
              <a:t>BDIT</a:t>
            </a:r>
            <a:endParaRPr lang="pt-BR" noProof="0" dirty="0"/>
          </a:p>
        </p:txBody>
      </p:sp>
      <p:sp>
        <p:nvSpPr>
          <p:cNvPr id="23" name="Hexagon 22"/>
          <p:cNvSpPr/>
          <p:nvPr/>
        </p:nvSpPr>
        <p:spPr>
          <a:xfrm rot="1800000">
            <a:off x="6227116" y="3171638"/>
            <a:ext cx="1371600" cy="1097280"/>
          </a:xfrm>
          <a:prstGeom prst="hexagon">
            <a:avLst/>
          </a:prstGeom>
          <a:solidFill>
            <a:srgbClr val="1E293B"/>
          </a:solidFill>
          <a:ln w="254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24" name="TextBox 23"/>
          <p:cNvSpPr txBox="1"/>
          <p:nvPr/>
        </p:nvSpPr>
        <p:spPr>
          <a:xfrm>
            <a:off x="6364276" y="3491678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59E0B"/>
                </a:solidFill>
              </a:defRPr>
            </a:pPr>
            <a:r>
              <a:rPr lang="pt-BR" noProof="0" dirty="0"/>
              <a:t>QUANTUM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64276" y="376599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>
                <a:solidFill>
                  <a:srgbClr val="94A3B8"/>
                </a:solidFill>
              </a:defRPr>
            </a:pPr>
            <a:r>
              <a:rPr lang="pt-BR" noProof="0" dirty="0" err="1"/>
              <a:t>Calc</a:t>
            </a:r>
            <a:r>
              <a:rPr lang="pt-BR" noProof="0" dirty="0"/>
              <a:t>. BRR</a:t>
            </a:r>
          </a:p>
        </p:txBody>
      </p:sp>
      <p:sp>
        <p:nvSpPr>
          <p:cNvPr id="26" name="Hexagon 25"/>
          <p:cNvSpPr/>
          <p:nvPr/>
        </p:nvSpPr>
        <p:spPr>
          <a:xfrm rot="1800000">
            <a:off x="7404822" y="1878408"/>
            <a:ext cx="1371600" cy="1097280"/>
          </a:xfrm>
          <a:prstGeom prst="hexagon">
            <a:avLst/>
          </a:prstGeom>
          <a:solidFill>
            <a:srgbClr val="1E293B"/>
          </a:solidFill>
          <a:ln w="254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27" name="TextBox 26"/>
          <p:cNvSpPr txBox="1"/>
          <p:nvPr/>
        </p:nvSpPr>
        <p:spPr>
          <a:xfrm>
            <a:off x="7541982" y="2198448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59E0B"/>
                </a:solidFill>
              </a:defRPr>
            </a:pPr>
            <a:r>
              <a:rPr lang="pt-BR" noProof="0" dirty="0"/>
              <a:t>KINESIS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41982" y="2472769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>
                <a:solidFill>
                  <a:srgbClr val="94A3B8"/>
                </a:solidFill>
              </a:defRPr>
            </a:pPr>
            <a:r>
              <a:rPr lang="pt-BR" noProof="0" dirty="0"/>
              <a:t>Rastreador AIS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680274" y="4588174"/>
            <a:ext cx="3877985" cy="33855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0F172A"/>
                </a:solidFill>
              </a:defRPr>
            </a:pPr>
            <a:r>
              <a:rPr lang="pt-BR" noProof="0" dirty="0">
                <a:solidFill>
                  <a:schemeClr val="bg1"/>
                </a:solidFill>
              </a:rPr>
              <a:t>7 MÓDULOS  •  1 PLATAFORMA COMPLETA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pic>
        <p:nvPicPr>
          <p:cNvPr id="29" name="Imagem 28" descr="Diagrama, Desenho técnico">
            <a:extLst>
              <a:ext uri="{FF2B5EF4-FFF2-40B4-BE49-F238E27FC236}">
                <a16:creationId xmlns:a16="http://schemas.microsoft.com/office/drawing/2014/main" id="{A92A4B7A-58B5-4D49-2D41-65F647DA6DCE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0" y="0"/>
            <a:ext cx="9143999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9144000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5" name="TextBox 4"/>
          <p:cNvSpPr txBox="1"/>
          <p:nvPr/>
        </p:nvSpPr>
        <p:spPr>
          <a:xfrm>
            <a:off x="731520" y="27432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F172A"/>
                </a:solidFill>
              </a:defRPr>
            </a:pPr>
            <a:r>
              <a:rPr lang="pt-BR" noProof="0" dirty="0"/>
              <a:t>ROADMAP DE IMPLEMENTAÇÃO</a:t>
            </a:r>
          </a:p>
        </p:txBody>
      </p:sp>
      <p:sp>
        <p:nvSpPr>
          <p:cNvPr id="6" name="Rectangle 5"/>
          <p:cNvSpPr/>
          <p:nvPr/>
        </p:nvSpPr>
        <p:spPr>
          <a:xfrm>
            <a:off x="1508760" y="1463040"/>
            <a:ext cx="36576" cy="29260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7" name="Oval 6"/>
          <p:cNvSpPr/>
          <p:nvPr/>
        </p:nvSpPr>
        <p:spPr>
          <a:xfrm>
            <a:off x="1371600" y="1371600"/>
            <a:ext cx="320040" cy="3200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8" name="TextBox 7"/>
          <p:cNvSpPr txBox="1"/>
          <p:nvPr/>
        </p:nvSpPr>
        <p:spPr>
          <a:xfrm>
            <a:off x="1371600" y="1371600"/>
            <a:ext cx="3200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0F172A"/>
                </a:solidFill>
              </a:defRPr>
            </a:pPr>
            <a:r>
              <a:rPr lang="pt-BR" noProof="0" dirty="0"/>
              <a:t>01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103120" y="1325880"/>
            <a:ext cx="6400800" cy="6400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0" name="TextBox 9"/>
          <p:cNvSpPr txBox="1"/>
          <p:nvPr/>
        </p:nvSpPr>
        <p:spPr>
          <a:xfrm>
            <a:off x="2286000" y="1417320"/>
            <a:ext cx="5943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rPr lang="pt-BR" noProof="0" dirty="0"/>
              <a:t>Atualização de Materiais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0" y="1664208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rPr lang="pt-BR" noProof="0" dirty="0"/>
              <a:t>Revisar decks comerciais e propostas com nova nomenclatura</a:t>
            </a:r>
          </a:p>
        </p:txBody>
      </p:sp>
      <p:sp>
        <p:nvSpPr>
          <p:cNvPr id="12" name="Oval 11"/>
          <p:cNvSpPr/>
          <p:nvPr/>
        </p:nvSpPr>
        <p:spPr>
          <a:xfrm>
            <a:off x="1371600" y="2148840"/>
            <a:ext cx="320040" cy="3200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3" name="TextBox 12"/>
          <p:cNvSpPr txBox="1"/>
          <p:nvPr/>
        </p:nvSpPr>
        <p:spPr>
          <a:xfrm>
            <a:off x="1371600" y="2148840"/>
            <a:ext cx="3200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0F172A"/>
                </a:solidFill>
              </a:defRPr>
            </a:pPr>
            <a:r>
              <a:rPr lang="pt-BR" noProof="0" dirty="0"/>
              <a:t>02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103120" y="2103120"/>
            <a:ext cx="6400800" cy="6400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5" name="TextBox 14"/>
          <p:cNvSpPr txBox="1"/>
          <p:nvPr/>
        </p:nvSpPr>
        <p:spPr>
          <a:xfrm>
            <a:off x="2286000" y="2194560"/>
            <a:ext cx="5943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rPr lang="pt-BR" noProof="0" dirty="0"/>
              <a:t>Treinamento Comercial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86000" y="2441448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rPr lang="pt-BR" noProof="0" dirty="0"/>
              <a:t>Workshop para fixar propósito e diferenciais dos módulos</a:t>
            </a:r>
          </a:p>
        </p:txBody>
      </p:sp>
      <p:sp>
        <p:nvSpPr>
          <p:cNvPr id="17" name="Oval 16"/>
          <p:cNvSpPr/>
          <p:nvPr/>
        </p:nvSpPr>
        <p:spPr>
          <a:xfrm>
            <a:off x="1371600" y="2926080"/>
            <a:ext cx="320040" cy="3200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8" name="TextBox 17"/>
          <p:cNvSpPr txBox="1"/>
          <p:nvPr/>
        </p:nvSpPr>
        <p:spPr>
          <a:xfrm>
            <a:off x="1371600" y="2926080"/>
            <a:ext cx="3200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0F172A"/>
                </a:solidFill>
              </a:defRPr>
            </a:pPr>
            <a:r>
              <a:rPr lang="pt-BR" noProof="0" dirty="0"/>
              <a:t>03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103120" y="2880360"/>
            <a:ext cx="6400800" cy="6400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20" name="TextBox 19"/>
          <p:cNvSpPr txBox="1"/>
          <p:nvPr/>
        </p:nvSpPr>
        <p:spPr>
          <a:xfrm>
            <a:off x="2286000" y="2971800"/>
            <a:ext cx="5943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rPr lang="pt-BR" noProof="0" dirty="0"/>
              <a:t>Comunicação ao Mercado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86000" y="3218688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rPr lang="pt-BR" noProof="0" dirty="0"/>
              <a:t>Anúncio em canais digitais e newsletters</a:t>
            </a:r>
          </a:p>
        </p:txBody>
      </p:sp>
      <p:sp>
        <p:nvSpPr>
          <p:cNvPr id="22" name="Oval 21"/>
          <p:cNvSpPr/>
          <p:nvPr/>
        </p:nvSpPr>
        <p:spPr>
          <a:xfrm>
            <a:off x="1371600" y="3703320"/>
            <a:ext cx="320040" cy="3200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23" name="TextBox 22"/>
          <p:cNvSpPr txBox="1"/>
          <p:nvPr/>
        </p:nvSpPr>
        <p:spPr>
          <a:xfrm>
            <a:off x="1371600" y="3703320"/>
            <a:ext cx="3200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0F172A"/>
                </a:solidFill>
              </a:defRPr>
            </a:pPr>
            <a:r>
              <a:rPr lang="pt-BR" noProof="0" dirty="0"/>
              <a:t>04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103120" y="3657600"/>
            <a:ext cx="6400800" cy="6400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25" name="TextBox 24"/>
          <p:cNvSpPr txBox="1"/>
          <p:nvPr/>
        </p:nvSpPr>
        <p:spPr>
          <a:xfrm>
            <a:off x="2286000" y="3749039"/>
            <a:ext cx="5943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rPr lang="pt-BR" noProof="0" dirty="0"/>
              <a:t>Atualização Digital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86000" y="3995928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rPr lang="pt-BR" noProof="0" dirty="0"/>
              <a:t>Aplicar identidade em site e interfaces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828800" y="4572000"/>
            <a:ext cx="5486400" cy="41148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28" name="TextBox 27"/>
          <p:cNvSpPr txBox="1"/>
          <p:nvPr/>
        </p:nvSpPr>
        <p:spPr>
          <a:xfrm>
            <a:off x="2011680" y="4617720"/>
            <a:ext cx="51206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100" b="1">
                <a:solidFill>
                  <a:srgbClr val="F59E0B"/>
                </a:solidFill>
              </a:defRPr>
            </a:pPr>
            <a:r>
              <a:rPr lang="pt-BR" noProof="0" dirty="0"/>
              <a:t>DE SISTEMA → PLATAFORMA  •  DE CÓDIGO → MARCA  •  DE TÉCNICO → ESTRATÉGICO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198</TotalTime>
  <Words>479</Words>
  <Application>Microsoft Office PowerPoint</Application>
  <PresentationFormat>Apresentação na tela (16:9)</PresentationFormat>
  <Paragraphs>125</Paragraphs>
  <Slides>9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3" baseType="lpstr">
      <vt:lpstr>Aptos</vt:lpstr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Robson Santos</dc:creator>
  <cp:keywords/>
  <dc:description>generated using python-pptx</dc:description>
  <cp:lastModifiedBy>Robson Santos</cp:lastModifiedBy>
  <cp:revision>3</cp:revision>
  <dcterms:created xsi:type="dcterms:W3CDTF">2013-01-27T09:14:16Z</dcterms:created>
  <dcterms:modified xsi:type="dcterms:W3CDTF">2025-10-27T23:41:43Z</dcterms:modified>
  <cp:category/>
</cp:coreProperties>
</file>