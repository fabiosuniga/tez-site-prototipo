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2537"/>
    <a:srgbClr val="2A5DCE"/>
    <a:srgbClr val="0891B2"/>
    <a:srgbClr val="7C3AED"/>
    <a:srgbClr val="FFFFFF"/>
    <a:srgbClr val="0596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41FCB3-0466-4816-B5FA-BB7138574C31}" v="7" dt="2025-10-18T21:11:15.2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104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son Santos" userId="76ef23076813caca" providerId="LiveId" clId="{2D740785-B7F8-404E-BEED-96B960E228C7}"/>
    <pc:docChg chg="modSld">
      <pc:chgData name="Robson Santos" userId="76ef23076813caca" providerId="LiveId" clId="{2D740785-B7F8-404E-BEED-96B960E228C7}" dt="2025-10-27T23:45:01.346" v="30" actId="1076"/>
      <pc:docMkLst>
        <pc:docMk/>
      </pc:docMkLst>
      <pc:sldChg chg="modSp mod">
        <pc:chgData name="Robson Santos" userId="76ef23076813caca" providerId="LiveId" clId="{2D740785-B7F8-404E-BEED-96B960E228C7}" dt="2025-10-27T23:45:01.346" v="30" actId="1076"/>
        <pc:sldMkLst>
          <pc:docMk/>
          <pc:sldMk cId="0" sldId="256"/>
        </pc:sldMkLst>
        <pc:picChg chg="mod">
          <ac:chgData name="Robson Santos" userId="76ef23076813caca" providerId="LiveId" clId="{2D740785-B7F8-404E-BEED-96B960E228C7}" dt="2025-10-27T23:45:01.346" v="30" actId="1076"/>
          <ac:picMkLst>
            <pc:docMk/>
            <pc:sldMk cId="0" sldId="256"/>
            <ac:picMk id="6" creationId="{4A90602B-1251-CF12-7932-2802CD1FE0B8}"/>
          </ac:picMkLst>
        </pc:picChg>
        <pc:picChg chg="ord">
          <ac:chgData name="Robson Santos" userId="76ef23076813caca" providerId="LiveId" clId="{2D740785-B7F8-404E-BEED-96B960E228C7}" dt="2025-10-27T23:44:58.203" v="29" actId="167"/>
          <ac:picMkLst>
            <pc:docMk/>
            <pc:sldMk cId="0" sldId="256"/>
            <ac:picMk id="7" creationId="{11446672-BB7C-C3C8-CAD0-653CB9C2208D}"/>
          </ac:picMkLst>
        </pc:picChg>
      </pc:sldChg>
      <pc:sldChg chg="modSp mod">
        <pc:chgData name="Robson Santos" userId="76ef23076813caca" providerId="LiveId" clId="{2D740785-B7F8-404E-BEED-96B960E228C7}" dt="2025-10-18T21:11:15.281" v="28"/>
        <pc:sldMkLst>
          <pc:docMk/>
          <pc:sldMk cId="0" sldId="265"/>
        </pc:sldMkLst>
        <pc:picChg chg="mod">
          <ac:chgData name="Robson Santos" userId="76ef23076813caca" providerId="LiveId" clId="{2D740785-B7F8-404E-BEED-96B960E228C7}" dt="2025-10-18T21:11:15.281" v="28"/>
          <ac:picMkLst>
            <pc:docMk/>
            <pc:sldMk cId="0" sldId="265"/>
            <ac:picMk id="20" creationId="{2B72C999-12EA-1F5A-32DE-BE2453191FB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0973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microsoft.com/office/2007/relationships/hdphoto" Target="../media/hdphoto1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microsoft.com/office/2007/relationships/hdphoto" Target="../media/hdphoto1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microsoft.com/office/2007/relationships/hdphoto" Target="../media/hdphoto1.wdp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microsoft.com/office/2007/relationships/hdphoto" Target="../media/hdphoto2.wdp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Diagrama, Desenho técnico">
            <a:extLst>
              <a:ext uri="{FF2B5EF4-FFF2-40B4-BE49-F238E27FC236}">
                <a16:creationId xmlns:a16="http://schemas.microsoft.com/office/drawing/2014/main" id="{11446672-BB7C-C3C8-CAD0-653CB9C2208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6000"/>
          </a:blip>
          <a:stretch>
            <a:fillRect/>
          </a:stretch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69100" y="1978983"/>
            <a:ext cx="7805797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80"/>
              </a:lnSpc>
              <a:spcAft>
                <a:spcPts val="1800"/>
              </a:spcAft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Paleta de Cores Enterprise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669101" y="3023146"/>
            <a:ext cx="780579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spcBef>
                <a:spcPts val="2400"/>
              </a:spcBef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 visual para reforçar autoridade e posicionamento</a:t>
            </a:r>
            <a:endParaRPr lang="en-US" sz="1500" dirty="0"/>
          </a:p>
          <a:p>
            <a:pPr marL="0" indent="0" algn="ctr">
              <a:lnSpc>
                <a:spcPts val="2250"/>
              </a:lnSpc>
              <a:spcBef>
                <a:spcPts val="2400"/>
              </a:spcBef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mercado regulatório B2B</a:t>
            </a:r>
            <a:endParaRPr lang="en-US" sz="1500" dirty="0"/>
          </a:p>
        </p:txBody>
      </p:sp>
      <p:pic>
        <p:nvPicPr>
          <p:cNvPr id="6" name="Imagem 5" descr="Logotipo&#10;&#10;O conteúdo gerado por IA pode estar incorreto.">
            <a:extLst>
              <a:ext uri="{FF2B5EF4-FFF2-40B4-BE49-F238E27FC236}">
                <a16:creationId xmlns:a16="http://schemas.microsoft.com/office/drawing/2014/main" id="{4A90602B-1251-CF12-7932-2802CD1FE0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4019" y="139688"/>
            <a:ext cx="2228180" cy="19355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3de29c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77180"/>
          </a:xfrm>
          <a:prstGeom prst="rect">
            <a:avLst/>
          </a:prstGeom>
        </p:spPr>
      </p:pic>
      <p:pic>
        <p:nvPicPr>
          <p:cNvPr id="9" name="Imagem 8" descr="Diagrama, Desenho técnico">
            <a:extLst>
              <a:ext uri="{FF2B5EF4-FFF2-40B4-BE49-F238E27FC236}">
                <a16:creationId xmlns:a16="http://schemas.microsoft.com/office/drawing/2014/main" id="{E6627128-247B-B5C4-D70A-912795CCBB3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6000"/>
          </a:blip>
          <a:stretch>
            <a:fillRect/>
          </a:stretch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90500"/>
            <a:ext cx="4090226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da Atualização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71500" y="1351119"/>
            <a:ext cx="8001000" cy="1973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60"/>
              </a:lnSpc>
              <a:spcAft>
                <a:spcPts val="1500"/>
              </a:spcAft>
              <a:buSzPct val="100000"/>
              <a:buChar char="•"/>
            </a:pPr>
            <a:r>
              <a:rPr lang="en-US" sz="1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Reforçar </a:t>
            </a: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confiança e inovação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Setor Eletrico. </a:t>
            </a:r>
            <a:endParaRPr lang="en-US" sz="1350" dirty="0"/>
          </a:p>
          <a:p>
            <a:pPr marL="342900" indent="-342900">
              <a:lnSpc>
                <a:spcPts val="2160"/>
              </a:lnSpc>
              <a:spcAft>
                <a:spcPts val="1500"/>
              </a:spcAft>
              <a:buSzPct val="100000"/>
              <a:buChar char="•"/>
            </a:pPr>
            <a:r>
              <a:rPr lang="en-US" sz="1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Garantir </a:t>
            </a: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legibilidade e acessibilidade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(contraste AAA WCAG) -</a:t>
            </a: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1350" dirty="0">
                <a:solidFill>
                  <a:srgbClr val="0F172A"/>
                </a:solidFill>
                <a:latin typeface="Arial" pitchFamily="34" charset="0"/>
                <a:cs typeface="Arial" pitchFamily="34" charset="-120"/>
              </a:rPr>
              <a:t>Diretrizes de Acessibilidade para Conteúdo Web (WCAG).</a:t>
            </a:r>
            <a:endParaRPr lang="en-US" sz="1350" dirty="0">
              <a:solidFill>
                <a:srgbClr val="0F172A"/>
              </a:solidFill>
              <a:latin typeface="Arial" pitchFamily="34" charset="0"/>
              <a:cs typeface="Arial" pitchFamily="34" charset="-120"/>
            </a:endParaRPr>
          </a:p>
          <a:p>
            <a:pPr marL="342900" indent="-342900" algn="l">
              <a:lnSpc>
                <a:spcPts val="2160"/>
              </a:lnSpc>
              <a:spcAft>
                <a:spcPts val="1500"/>
              </a:spcAft>
              <a:buSzPct val="100000"/>
              <a:buChar char="•"/>
            </a:pPr>
            <a:r>
              <a:rPr lang="en-US" sz="1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Aplicação </a:t>
            </a: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consistente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 todos os touchpoints: site, software TGA, apresentações e materiais</a:t>
            </a:r>
            <a:endParaRPr lang="en-US" sz="1350" dirty="0"/>
          </a:p>
          <a:p>
            <a:pPr marL="342900" indent="-342900" algn="l">
              <a:lnSpc>
                <a:spcPts val="2160"/>
              </a:lnSpc>
              <a:spcAft>
                <a:spcPts val="1500"/>
              </a:spcAft>
              <a:buSzPct val="100000"/>
              <a:buChar char="•"/>
            </a:pPr>
            <a:r>
              <a:rPr lang="en-US" sz="1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Substituir tons vibrantes por </a:t>
            </a: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opções premium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melhor percepção de mercado</a:t>
            </a:r>
            <a:endParaRPr lang="en-US" sz="1350" dirty="0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C816BD57-1FB6-A5D3-860A-7C83B3898EF7}"/>
              </a:ext>
            </a:extLst>
          </p:cNvPr>
          <p:cNvGrpSpPr/>
          <p:nvPr/>
        </p:nvGrpSpPr>
        <p:grpSpPr>
          <a:xfrm>
            <a:off x="8037444" y="-58370"/>
            <a:ext cx="1004588" cy="893919"/>
            <a:chOff x="2633303" y="-336302"/>
            <a:chExt cx="6819899" cy="5511741"/>
          </a:xfrm>
        </p:grpSpPr>
        <p:pic>
          <p:nvPicPr>
            <p:cNvPr id="7" name="Imagem 6" descr="Imagem de vídeo game&#10;&#10;O conteúdo gerado por IA pode estar incorreto.">
              <a:extLst>
                <a:ext uri="{FF2B5EF4-FFF2-40B4-BE49-F238E27FC236}">
                  <a16:creationId xmlns:a16="http://schemas.microsoft.com/office/drawing/2014/main" id="{037F466D-E46F-5789-A423-CCB6C294272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>
                          <a14:backgroundMark x1="15967" y1="10645" x2="34961" y2="5811"/>
                          <a14:backgroundMark x1="34961" y1="5811" x2="79346" y2="9277"/>
                          <a14:backgroundMark x1="79346" y1="9277" x2="85840" y2="17627"/>
                          <a14:backgroundMark x1="85840" y1="17627" x2="86182" y2="19482"/>
                          <a14:backgroundMark x1="14209" y1="39697" x2="23438" y2="93652"/>
                          <a14:backgroundMark x1="23438" y1="93652" x2="30518" y2="99609"/>
                          <a14:backgroundMark x1="30518" y1="99609" x2="30518" y2="99609"/>
                          <a14:backgroundMark x1="91846" y1="18457" x2="91113" y2="7338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26393" y="-336302"/>
              <a:ext cx="4833720" cy="4338420"/>
            </a:xfrm>
            <a:prstGeom prst="rect">
              <a:avLst/>
            </a:prstGeom>
          </p:spPr>
        </p:pic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738F9A7D-BD7E-32E9-317A-6BCA9D6CA941}"/>
                </a:ext>
              </a:extLst>
            </p:cNvPr>
            <p:cNvSpPr txBox="1"/>
            <p:nvPr/>
          </p:nvSpPr>
          <p:spPr>
            <a:xfrm>
              <a:off x="2633303" y="3562400"/>
              <a:ext cx="6819899" cy="16130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b="1" dirty="0">
                  <a:solidFill>
                    <a:srgbClr val="F1F5F9"/>
                  </a:solidFill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TEZ &amp; TEZ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9abdb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77180"/>
          </a:xfrm>
          <a:prstGeom prst="rect">
            <a:avLst/>
          </a:prstGeom>
        </p:spPr>
      </p:pic>
      <p:pic>
        <p:nvPicPr>
          <p:cNvPr id="35" name="Imagem 34" descr="Diagrama, Desenho técnico">
            <a:extLst>
              <a:ext uri="{FF2B5EF4-FFF2-40B4-BE49-F238E27FC236}">
                <a16:creationId xmlns:a16="http://schemas.microsoft.com/office/drawing/2014/main" id="{7F907E42-7D98-7B66-EE5C-F495AB4AD20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6000"/>
          </a:blip>
          <a:stretch>
            <a:fillRect/>
          </a:stretch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90500"/>
            <a:ext cx="4090226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 da Paleta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71500" y="1158180"/>
            <a:ext cx="3810000" cy="3076575"/>
          </a:xfrm>
          <a:prstGeom prst="roundRect">
            <a:avLst>
              <a:gd name="adj" fmla="val 3715"/>
            </a:avLst>
          </a:prstGeom>
          <a:solidFill>
            <a:srgbClr val="FFF3E0"/>
          </a:solidFill>
          <a:ln w="28575">
            <a:solidFill>
              <a:srgbClr val="FFB8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95719" y="1415355"/>
            <a:ext cx="3361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ATUAL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8675" y="1834455"/>
            <a:ext cx="3295650" cy="638175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942975" y="1963043"/>
            <a:ext cx="571500" cy="381000"/>
          </a:xfrm>
          <a:prstGeom prst="roundRect">
            <a:avLst>
              <a:gd name="adj" fmla="val 15000"/>
            </a:avLst>
          </a:prstGeom>
          <a:solidFill>
            <a:srgbClr val="FFB8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666875" y="1948755"/>
            <a:ext cx="11386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Dourado Vibrante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666875" y="2186880"/>
            <a:ext cx="113868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#FFB800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8675" y="2586930"/>
            <a:ext cx="3295650" cy="638175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942975" y="2715518"/>
            <a:ext cx="571500" cy="38100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666875" y="2701230"/>
            <a:ext cx="12016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Inconsistente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666875" y="2939355"/>
            <a:ext cx="12016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#1E3A5F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28675" y="3339405"/>
            <a:ext cx="3295650" cy="638175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942975" y="3467993"/>
            <a:ext cx="571500" cy="381000"/>
          </a:xfrm>
          <a:prstGeom prst="roundRect">
            <a:avLst>
              <a:gd name="adj" fmla="val 15000"/>
            </a:avLst>
          </a:prstGeom>
          <a:solidFill>
            <a:srgbClr val="6C757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666875" y="3453705"/>
            <a:ext cx="84661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Cinza Básico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666875" y="3691830"/>
            <a:ext cx="8466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#6C757D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762500" y="1158180"/>
            <a:ext cx="3810000" cy="3076575"/>
          </a:xfrm>
          <a:prstGeom prst="roundRect">
            <a:avLst>
              <a:gd name="adj" fmla="val 3715"/>
            </a:avLst>
          </a:prstGeom>
          <a:solidFill>
            <a:srgbClr val="FEF3C7"/>
          </a:solidFill>
          <a:ln w="28575">
            <a:solidFill>
              <a:srgbClr val="D9770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986719" y="1415355"/>
            <a:ext cx="3361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PALETA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019675" y="1834455"/>
            <a:ext cx="3295650" cy="638175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1" descr="/tmp/rasterized-gradient-8e4748c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3975" y="1963043"/>
            <a:ext cx="571500" cy="3810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857875" y="1948755"/>
            <a:ext cx="11933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Âmbar Premium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5857875" y="2186880"/>
            <a:ext cx="11933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#D97706 → #F59E0B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019675" y="2586930"/>
            <a:ext cx="3295650" cy="638175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5133975" y="2715518"/>
            <a:ext cx="571500" cy="38100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5857875" y="2701230"/>
            <a:ext cx="10055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Slate Executivo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5857875" y="2939355"/>
            <a:ext cx="100555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#0F172A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5019675" y="3339405"/>
            <a:ext cx="3295650" cy="638175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5133975" y="3467993"/>
            <a:ext cx="571500" cy="381000"/>
          </a:xfrm>
          <a:prstGeom prst="roundRect">
            <a:avLst>
              <a:gd name="adj" fmla="val 15000"/>
            </a:avLst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5857875" y="3453705"/>
            <a:ext cx="9826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Cinza Premium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5857875" y="3691830"/>
            <a:ext cx="9826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#64748B</a:t>
            </a:r>
            <a:endParaRPr lang="en-US" sz="900" dirty="0"/>
          </a:p>
        </p:txBody>
      </p: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90C5FFF7-5590-4F94-C9FF-05FC7AE1D9F6}"/>
              </a:ext>
            </a:extLst>
          </p:cNvPr>
          <p:cNvGrpSpPr/>
          <p:nvPr/>
        </p:nvGrpSpPr>
        <p:grpSpPr>
          <a:xfrm>
            <a:off x="7993128" y="-58370"/>
            <a:ext cx="1004588" cy="893919"/>
            <a:chOff x="2633303" y="-336302"/>
            <a:chExt cx="6819899" cy="5511741"/>
          </a:xfrm>
        </p:grpSpPr>
        <p:pic>
          <p:nvPicPr>
            <p:cNvPr id="33" name="Imagem 32" descr="Imagem de vídeo game&#10;&#10;O conteúdo gerado por IA pode estar incorreto.">
              <a:extLst>
                <a:ext uri="{FF2B5EF4-FFF2-40B4-BE49-F238E27FC236}">
                  <a16:creationId xmlns:a16="http://schemas.microsoft.com/office/drawing/2014/main" id="{3074785C-AB2E-E884-DF95-8B1DFB8CF9A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backgroundMark x1="15967" y1="10645" x2="34961" y2="5811"/>
                          <a14:backgroundMark x1="34961" y1="5811" x2="79346" y2="9277"/>
                          <a14:backgroundMark x1="79346" y1="9277" x2="85840" y2="17627"/>
                          <a14:backgroundMark x1="85840" y1="17627" x2="86182" y2="19482"/>
                          <a14:backgroundMark x1="14209" y1="39697" x2="23438" y2="93652"/>
                          <a14:backgroundMark x1="23438" y1="93652" x2="30518" y2="99609"/>
                          <a14:backgroundMark x1="30518" y1="99609" x2="30518" y2="99609"/>
                          <a14:backgroundMark x1="91846" y1="18457" x2="91113" y2="7338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26393" y="-336302"/>
              <a:ext cx="4833720" cy="4338420"/>
            </a:xfrm>
            <a:prstGeom prst="rect">
              <a:avLst/>
            </a:prstGeom>
          </p:spPr>
        </p:pic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7FA039FC-F09C-0088-2704-F46DE2CC900A}"/>
                </a:ext>
              </a:extLst>
            </p:cNvPr>
            <p:cNvSpPr txBox="1"/>
            <p:nvPr/>
          </p:nvSpPr>
          <p:spPr>
            <a:xfrm>
              <a:off x="2633303" y="3562400"/>
              <a:ext cx="6819899" cy="16130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b="1" dirty="0">
                  <a:solidFill>
                    <a:srgbClr val="F1F5F9"/>
                  </a:solidFill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TEZ &amp; TEZ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fa5d9f5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62930"/>
          </a:xfrm>
          <a:prstGeom prst="rect">
            <a:avLst/>
          </a:prstGeom>
        </p:spPr>
      </p:pic>
      <p:pic>
        <p:nvPicPr>
          <p:cNvPr id="13" name="Imagem 12" descr="Diagrama, Desenho técnico">
            <a:extLst>
              <a:ext uri="{FF2B5EF4-FFF2-40B4-BE49-F238E27FC236}">
                <a16:creationId xmlns:a16="http://schemas.microsoft.com/office/drawing/2014/main" id="{B219E230-1BDA-4701-9086-DBEB2FC3CA5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6000"/>
          </a:blip>
          <a:stretch>
            <a:fillRect/>
          </a:stretch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28600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 PRINCIPAL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71500" y="491430"/>
            <a:ext cx="40902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Âmbar Premium</a:t>
            </a:r>
            <a:endParaRPr lang="en-US" sz="2700" dirty="0"/>
          </a:p>
        </p:txBody>
      </p:sp>
      <p:pic>
        <p:nvPicPr>
          <p:cNvPr id="5" name="Image 1" descr="/tmp/rasterized-gradient-0532e0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367730"/>
            <a:ext cx="1905000" cy="1143000"/>
          </a:xfrm>
          <a:prstGeom prst="rect">
            <a:avLst/>
          </a:prstGeom>
          <a:effectLst>
            <a:outerShdw blurRad="228600" dist="76200" dir="5400000" algn="bl" rotWithShape="0">
              <a:srgbClr val="D97706">
                <a:alpha val="30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2857500" y="1405830"/>
            <a:ext cx="58293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sofisticado</a:t>
            </a: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transmite expertise de 33+ anos, mais maduro e premium que o dourado vibrante atual.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2857500" y="2045791"/>
            <a:ext cx="582930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Reflete maturidade, confiança e liderança tecnológica no setor de utilities regulado.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815530"/>
            <a:ext cx="8161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Aplicações Recomendadas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71500" y="3196530"/>
            <a:ext cx="8001000" cy="1036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20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Cubo 3D da marca (gradiente hero)</a:t>
            </a:r>
            <a:endParaRPr lang="en-US" sz="1200" dirty="0"/>
          </a:p>
          <a:p>
            <a:pPr marL="342900" indent="-342900" algn="l">
              <a:lnSpc>
                <a:spcPts val="1920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CTAs principais e elementos de destaque</a:t>
            </a:r>
            <a:endParaRPr lang="en-US" sz="1200" dirty="0"/>
          </a:p>
          <a:p>
            <a:pPr marL="342900" indent="-342900" algn="l">
              <a:lnSpc>
                <a:spcPts val="1920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Ícones dos módulos TGA (OPUS, VECTO, ELO, VERTEX, AXON, QUANTUM, KINESIS)</a:t>
            </a:r>
            <a:endParaRPr lang="en-US" sz="1200" dirty="0"/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516843B7-8CE8-4C1F-404E-6658836CEFAD}"/>
              </a:ext>
            </a:extLst>
          </p:cNvPr>
          <p:cNvGrpSpPr/>
          <p:nvPr/>
        </p:nvGrpSpPr>
        <p:grpSpPr>
          <a:xfrm>
            <a:off x="7993128" y="82571"/>
            <a:ext cx="1004588" cy="893919"/>
            <a:chOff x="2633303" y="-336302"/>
            <a:chExt cx="6819899" cy="5511741"/>
          </a:xfrm>
        </p:grpSpPr>
        <p:pic>
          <p:nvPicPr>
            <p:cNvPr id="11" name="Imagem 10" descr="Imagem de vídeo game&#10;&#10;O conteúdo gerado por IA pode estar incorreto.">
              <a:extLst>
                <a:ext uri="{FF2B5EF4-FFF2-40B4-BE49-F238E27FC236}">
                  <a16:creationId xmlns:a16="http://schemas.microsoft.com/office/drawing/2014/main" id="{E1A98777-E801-CA57-F5D0-67BE9A4D40D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backgroundMark x1="15967" y1="10645" x2="34961" y2="5811"/>
                          <a14:backgroundMark x1="34961" y1="5811" x2="79346" y2="9277"/>
                          <a14:backgroundMark x1="79346" y1="9277" x2="85840" y2="17627"/>
                          <a14:backgroundMark x1="85840" y1="17627" x2="86182" y2="19482"/>
                          <a14:backgroundMark x1="14209" y1="39697" x2="23438" y2="93652"/>
                          <a14:backgroundMark x1="23438" y1="93652" x2="30518" y2="99609"/>
                          <a14:backgroundMark x1="30518" y1="99609" x2="30518" y2="99609"/>
                          <a14:backgroundMark x1="91846" y1="18457" x2="91113" y2="7338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26393" y="-336302"/>
              <a:ext cx="4833720" cy="4338420"/>
            </a:xfrm>
            <a:prstGeom prst="rect">
              <a:avLst/>
            </a:prstGeom>
          </p:spPr>
        </p:pic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6022A55C-29F5-D1B5-DA31-C3F6F484771B}"/>
                </a:ext>
              </a:extLst>
            </p:cNvPr>
            <p:cNvSpPr txBox="1"/>
            <p:nvPr/>
          </p:nvSpPr>
          <p:spPr>
            <a:xfrm>
              <a:off x="2633303" y="3562400"/>
              <a:ext cx="6819899" cy="16130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b="1" dirty="0">
                  <a:solidFill>
                    <a:srgbClr val="F1F5F9"/>
                  </a:solidFill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TEZ &amp; TEZ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6293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m 10" descr="Diagrama, Desenho técnico">
            <a:extLst>
              <a:ext uri="{FF2B5EF4-FFF2-40B4-BE49-F238E27FC236}">
                <a16:creationId xmlns:a16="http://schemas.microsoft.com/office/drawing/2014/main" id="{E08FE510-36AA-614C-964C-B4F43A81C18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6000"/>
          </a:blip>
          <a:stretch>
            <a:fillRect/>
          </a:stretch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571500" y="228600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 SECUNDÁRIA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1500" y="491430"/>
            <a:ext cx="40902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Slate Executivo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71500" y="1367730"/>
            <a:ext cx="1905000" cy="11430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/>
          <a:effectLst>
            <a:outerShdw blurRad="228600" dist="76200" dir="5400000" algn="bl" rotWithShape="0">
              <a:srgbClr val="0F172A">
                <a:alpha val="3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857500" y="1405830"/>
            <a:ext cx="582930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executiva</a:t>
            </a: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transmite solidez, profissionalismo e autoridade técnica.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57500" y="1802011"/>
            <a:ext cx="58293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Substitui o azul inconsistente anterior, criando uma identidade visual mais coesa e premium.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1500" y="2815530"/>
            <a:ext cx="8161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Aplicações Recomendadas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71500" y="3196530"/>
            <a:ext cx="8001000" cy="1036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20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Headers premium e fundos institucionais</a:t>
            </a:r>
            <a:endParaRPr lang="en-US" sz="1200" dirty="0"/>
          </a:p>
          <a:p>
            <a:pPr marL="342900" indent="-342900" algn="l">
              <a:lnSpc>
                <a:spcPts val="1920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Textos principais e títulos de seções</a:t>
            </a:r>
            <a:endParaRPr lang="en-US" sz="1200" dirty="0"/>
          </a:p>
          <a:p>
            <a:pPr marL="342900" indent="-342900" algn="l">
              <a:lnSpc>
                <a:spcPts val="1920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Escudos dos logos TGA e backgrounds corporativos</a:t>
            </a:r>
            <a:endParaRPr lang="en-US" sz="1200" dirty="0"/>
          </a:p>
        </p:txBody>
      </p:sp>
      <p:pic>
        <p:nvPicPr>
          <p:cNvPr id="10" name="Imagem 9" descr="Logotipo&#10;&#10;O conteúdo gerado por IA pode estar incorreto.">
            <a:extLst>
              <a:ext uri="{FF2B5EF4-FFF2-40B4-BE49-F238E27FC236}">
                <a16:creationId xmlns:a16="http://schemas.microsoft.com/office/drawing/2014/main" id="{B6C93EC6-B023-B7B6-19CA-32B9B1535C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2716" y="-51060"/>
            <a:ext cx="1249016" cy="10849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62930"/>
          </a:xfrm>
          <a:prstGeom prst="rect">
            <a:avLst/>
          </a:prstGeom>
          <a:solidFill>
            <a:srgbClr val="1E40A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m 10" descr="Diagrama, Desenho técnico">
            <a:extLst>
              <a:ext uri="{FF2B5EF4-FFF2-40B4-BE49-F238E27FC236}">
                <a16:creationId xmlns:a16="http://schemas.microsoft.com/office/drawing/2014/main" id="{E209612C-CA65-D328-D223-0957773FFD9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6000"/>
          </a:blip>
          <a:stretch>
            <a:fillRect/>
          </a:stretch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571500" y="228600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 DE APOIO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1500" y="491430"/>
            <a:ext cx="40902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Corporativo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71500" y="1367730"/>
            <a:ext cx="1905000" cy="1143000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/>
          <a:effectLst>
            <a:outerShdw blurRad="228600" dist="76200" dir="5400000" algn="bl" rotWithShape="0">
              <a:srgbClr val="1E40AF">
                <a:alpha val="3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857500" y="1405830"/>
            <a:ext cx="58293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confiável</a:t>
            </a: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elementos interativos e destaques técnicos, mantendo a familiaridade do setor.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57500" y="2045791"/>
            <a:ext cx="582930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Transmite estabilidade e confiança, essenciais no mercado regulatório de utilities.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1500" y="2815530"/>
            <a:ext cx="8161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Aplicações Recomendadas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71500" y="3196530"/>
            <a:ext cx="8001000" cy="1036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20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Links, hiperlinks e elementos clicáveis</a:t>
            </a:r>
            <a:endParaRPr lang="en-US" sz="1200" dirty="0"/>
          </a:p>
          <a:p>
            <a:pPr marL="342900" indent="-342900" algn="l">
              <a:lnSpc>
                <a:spcPts val="1920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Gráficos, dashboards e visualizações de dados</a:t>
            </a:r>
            <a:endParaRPr lang="en-US" sz="1200" dirty="0"/>
          </a:p>
          <a:p>
            <a:pPr marL="342900" indent="-342900" algn="l">
              <a:lnSpc>
                <a:spcPts val="1920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Destaques técnicos e elementos interativos do software</a:t>
            </a:r>
            <a:endParaRPr lang="en-US" sz="1200" dirty="0"/>
          </a:p>
        </p:txBody>
      </p:sp>
      <p:pic>
        <p:nvPicPr>
          <p:cNvPr id="10" name="Imagem 9" descr="Logotipo&#10;&#10;O conteúdo gerado por IA pode estar incorreto.">
            <a:extLst>
              <a:ext uri="{FF2B5EF4-FFF2-40B4-BE49-F238E27FC236}">
                <a16:creationId xmlns:a16="http://schemas.microsoft.com/office/drawing/2014/main" id="{78E801D4-FB40-CBBF-C2CD-BF4289072B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2716" y="-51060"/>
            <a:ext cx="1249016" cy="10849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27b2c6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19584"/>
          </a:xfrm>
          <a:prstGeom prst="rect">
            <a:avLst/>
          </a:prstGeom>
        </p:spPr>
      </p:pic>
      <p:pic>
        <p:nvPicPr>
          <p:cNvPr id="30" name="Imagem 29" descr="Diagrama, Desenho técnico">
            <a:extLst>
              <a:ext uri="{FF2B5EF4-FFF2-40B4-BE49-F238E27FC236}">
                <a16:creationId xmlns:a16="http://schemas.microsoft.com/office/drawing/2014/main" id="{F659888B-8BB7-21FB-1223-D42B330369C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6000"/>
          </a:blip>
          <a:stretch>
            <a:fillRect/>
          </a:stretch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90500"/>
            <a:ext cx="4585716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Cores de Suporte e Funcionais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71500" y="1024384"/>
            <a:ext cx="1244650" cy="571500"/>
          </a:xfrm>
          <a:prstGeom prst="roundRect">
            <a:avLst>
              <a:gd name="adj" fmla="val 13333"/>
            </a:avLst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1892350" y="1024384"/>
            <a:ext cx="1244650" cy="571500"/>
          </a:xfrm>
          <a:prstGeom prst="roundRect">
            <a:avLst>
              <a:gd name="adj" fmla="val 13333"/>
            </a:avLst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213199" y="1024384"/>
            <a:ext cx="1244650" cy="571500"/>
          </a:xfrm>
          <a:prstGeom prst="roundRect">
            <a:avLst>
              <a:gd name="adj" fmla="val 13333"/>
            </a:avLst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71500" y="1710184"/>
            <a:ext cx="39639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Grays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" y="1957834"/>
            <a:ext cx="3963924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#334155 • #64748B • #94A3B8</a:t>
            </a:r>
            <a:endParaRPr lang="en-US" sz="1050" dirty="0"/>
          </a:p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Textos secundários e hierarquia visual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686300" y="1024384"/>
            <a:ext cx="1250900" cy="5715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013400" y="1024384"/>
            <a:ext cx="1250900" cy="57150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340501" y="1024384"/>
            <a:ext cx="1231850" cy="571500"/>
          </a:xfrm>
          <a:prstGeom prst="roundRect">
            <a:avLst>
              <a:gd name="adj" fmla="val 13333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686300" y="1710184"/>
            <a:ext cx="39639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Tones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686300" y="1957834"/>
            <a:ext cx="3963924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#F8FAFC • #F1F5F9 • #E2E8F0</a:t>
            </a:r>
            <a:endParaRPr lang="en-US" sz="1050" dirty="0"/>
          </a:p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Backgrounds e áreas de conteúdo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71500" y="2634109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Cores Funcionais (Status &amp; Feedback)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71500" y="2986534"/>
            <a:ext cx="1885950" cy="47625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52641" y="3538984"/>
            <a:ext cx="19236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Sucesso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552641" y="3750320"/>
            <a:ext cx="19236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#059669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2609850" y="2986534"/>
            <a:ext cx="1885950" cy="476250"/>
          </a:xfrm>
          <a:prstGeom prst="roundRect">
            <a:avLst>
              <a:gd name="adj" fmla="val 16000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590991" y="3538984"/>
            <a:ext cx="19236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2590991" y="3750320"/>
            <a:ext cx="19236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#DC2626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648200" y="2986534"/>
            <a:ext cx="1885950" cy="47625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629341" y="3538984"/>
            <a:ext cx="19236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 Premium</a:t>
            </a:r>
            <a:endParaRPr lang="en-US" sz="975" dirty="0"/>
          </a:p>
        </p:txBody>
      </p:sp>
      <p:sp>
        <p:nvSpPr>
          <p:cNvPr id="23" name="Text 20"/>
          <p:cNvSpPr/>
          <p:nvPr/>
        </p:nvSpPr>
        <p:spPr>
          <a:xfrm>
            <a:off x="4629341" y="3750320"/>
            <a:ext cx="19236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#7C3AED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6686550" y="2986534"/>
            <a:ext cx="1885950" cy="47625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667691" y="3538984"/>
            <a:ext cx="19236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</a:t>
            </a:r>
            <a:endParaRPr lang="en-US" sz="975" dirty="0"/>
          </a:p>
        </p:txBody>
      </p:sp>
      <p:sp>
        <p:nvSpPr>
          <p:cNvPr id="26" name="Text 23"/>
          <p:cNvSpPr/>
          <p:nvPr/>
        </p:nvSpPr>
        <p:spPr>
          <a:xfrm>
            <a:off x="6667691" y="3750320"/>
            <a:ext cx="19236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#0891B2</a:t>
            </a:r>
            <a:endParaRPr lang="en-US" sz="825" dirty="0"/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6943DEE9-2A01-8808-3C93-A59CB88BFF80}"/>
              </a:ext>
            </a:extLst>
          </p:cNvPr>
          <p:cNvGrpSpPr/>
          <p:nvPr/>
        </p:nvGrpSpPr>
        <p:grpSpPr>
          <a:xfrm>
            <a:off x="7993128" y="-87168"/>
            <a:ext cx="1004588" cy="893919"/>
            <a:chOff x="2633303" y="-336302"/>
            <a:chExt cx="6819899" cy="5511741"/>
          </a:xfrm>
        </p:grpSpPr>
        <p:pic>
          <p:nvPicPr>
            <p:cNvPr id="28" name="Imagem 27" descr="Imagem de vídeo game&#10;&#10;O conteúdo gerado por IA pode estar incorreto.">
              <a:extLst>
                <a:ext uri="{FF2B5EF4-FFF2-40B4-BE49-F238E27FC236}">
                  <a16:creationId xmlns:a16="http://schemas.microsoft.com/office/drawing/2014/main" id="{D670959F-66F6-FBD5-569C-3504F143F3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>
                          <a14:backgroundMark x1="15967" y1="10645" x2="34961" y2="5811"/>
                          <a14:backgroundMark x1="34961" y1="5811" x2="79346" y2="9277"/>
                          <a14:backgroundMark x1="79346" y1="9277" x2="85840" y2="17627"/>
                          <a14:backgroundMark x1="85840" y1="17627" x2="86182" y2="19482"/>
                          <a14:backgroundMark x1="14209" y1="39697" x2="23438" y2="93652"/>
                          <a14:backgroundMark x1="23438" y1="93652" x2="30518" y2="99609"/>
                          <a14:backgroundMark x1="30518" y1="99609" x2="30518" y2="99609"/>
                          <a14:backgroundMark x1="91846" y1="18457" x2="91113" y2="7338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26393" y="-336302"/>
              <a:ext cx="4833720" cy="4338420"/>
            </a:xfrm>
            <a:prstGeom prst="rect">
              <a:avLst/>
            </a:prstGeom>
          </p:spPr>
        </p:pic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6FF1B37A-3CB4-D934-482D-72F2976A9244}"/>
                </a:ext>
              </a:extLst>
            </p:cNvPr>
            <p:cNvSpPr txBox="1"/>
            <p:nvPr/>
          </p:nvSpPr>
          <p:spPr>
            <a:xfrm>
              <a:off x="2633303" y="3562400"/>
              <a:ext cx="6819899" cy="16130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b="1" dirty="0">
                  <a:solidFill>
                    <a:srgbClr val="F1F5F9"/>
                  </a:solidFill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TEZ &amp; TEZ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51f7a5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19584"/>
          </a:xfrm>
          <a:prstGeom prst="rect">
            <a:avLst/>
          </a:prstGeom>
        </p:spPr>
      </p:pic>
      <p:pic>
        <p:nvPicPr>
          <p:cNvPr id="18" name="Imagem 17" descr="Diagrama, Desenho técnico">
            <a:extLst>
              <a:ext uri="{FF2B5EF4-FFF2-40B4-BE49-F238E27FC236}">
                <a16:creationId xmlns:a16="http://schemas.microsoft.com/office/drawing/2014/main" id="{3AA4E94F-F4C2-7712-CCB0-187AB2B938B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6000"/>
          </a:blip>
          <a:stretch>
            <a:fillRect/>
          </a:stretch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90500"/>
            <a:ext cx="4420553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Gradients e Aplicações</a:t>
            </a:r>
            <a:endParaRPr lang="en-US" sz="2400" dirty="0"/>
          </a:p>
        </p:txBody>
      </p:sp>
      <p:pic>
        <p:nvPicPr>
          <p:cNvPr id="4" name="Image 1" descr="/tmp/rasterized-gradient-20214b9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024384"/>
            <a:ext cx="3905250" cy="762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1881634"/>
            <a:ext cx="398335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#D97706 → #F59E0B</a:t>
            </a:r>
            <a:endParaRPr lang="en-US" sz="105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Cubo 3D, CTAs principais</a:t>
            </a:r>
            <a:endParaRPr lang="en-US" sz="1050" dirty="0"/>
          </a:p>
        </p:txBody>
      </p:sp>
      <p:pic>
        <p:nvPicPr>
          <p:cNvPr id="6" name="Image 2" descr="/tmp/rasterized-gradient-253ce5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024384"/>
            <a:ext cx="3905250" cy="7620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667250" y="1881634"/>
            <a:ext cx="398335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#F59E0B → #FCD34D</a:t>
            </a:r>
            <a:endParaRPr lang="en-US" sz="105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Backgrounds suaves, cards</a:t>
            </a:r>
            <a:endParaRPr lang="en-US" sz="1050" dirty="0"/>
          </a:p>
        </p:txBody>
      </p:sp>
      <p:pic>
        <p:nvPicPr>
          <p:cNvPr id="8" name="Image 3" descr="/tmp/rasterized-gradient-5826ebc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445395"/>
            <a:ext cx="3905250" cy="7620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71500" y="3302645"/>
            <a:ext cx="398335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#0F172A → #1E293B</a:t>
            </a:r>
            <a:endParaRPr lang="en-US" sz="105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Headers premium, fundos exec</a:t>
            </a:r>
            <a:endParaRPr lang="en-US" sz="1050" dirty="0"/>
          </a:p>
        </p:txBody>
      </p:sp>
      <p:pic>
        <p:nvPicPr>
          <p:cNvPr id="10" name="Image 4" descr="/tmp/rasterized-gradient-d47ce4b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7250" y="2445395"/>
            <a:ext cx="3905250" cy="7620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667250" y="3302645"/>
            <a:ext cx="398335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#1E40AF → #3B82F6</a:t>
            </a:r>
            <a:endParaRPr lang="en-US" sz="105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Gráficos, dashboards técnicos</a:t>
            </a:r>
            <a:endParaRPr lang="en-US" sz="1050" dirty="0"/>
          </a:p>
        </p:txBody>
      </p:sp>
      <p:sp>
        <p:nvSpPr>
          <p:cNvPr id="12" name="Text 5"/>
          <p:cNvSpPr/>
          <p:nvPr/>
        </p:nvSpPr>
        <p:spPr>
          <a:xfrm>
            <a:off x="571500" y="3942606"/>
            <a:ext cx="8001000" cy="762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6"/>
          <p:cNvSpPr/>
          <p:nvPr/>
        </p:nvSpPr>
        <p:spPr>
          <a:xfrm>
            <a:off x="590550" y="3942606"/>
            <a:ext cx="0" cy="762000"/>
          </a:xfrm>
          <a:prstGeom prst="line">
            <a:avLst/>
          </a:prstGeom>
          <a:noFill/>
          <a:ln w="381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7"/>
          <p:cNvSpPr/>
          <p:nvPr/>
        </p:nvSpPr>
        <p:spPr>
          <a:xfrm>
            <a:off x="762000" y="4095006"/>
            <a:ext cx="78112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estratégica:</a:t>
            </a:r>
            <a:r>
              <a:rPr lang="en-US" sz="11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Os gradientes adicionam profundidade visual sem comprometer a simplicidade executiva, mantendo a identidade premium e facilitando a navegação nos produtos TGA.</a:t>
            </a:r>
            <a:endParaRPr lang="en-US" sz="1125" dirty="0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9D2D8EC2-F0C5-BD15-B41A-DD357C7C3A6D}"/>
              </a:ext>
            </a:extLst>
          </p:cNvPr>
          <p:cNvGrpSpPr/>
          <p:nvPr/>
        </p:nvGrpSpPr>
        <p:grpSpPr>
          <a:xfrm>
            <a:off x="7993128" y="-87168"/>
            <a:ext cx="1004588" cy="893919"/>
            <a:chOff x="2633303" y="-336302"/>
            <a:chExt cx="6819899" cy="5511741"/>
          </a:xfrm>
        </p:grpSpPr>
        <p:pic>
          <p:nvPicPr>
            <p:cNvPr id="16" name="Imagem 15" descr="Imagem de vídeo game&#10;&#10;O conteúdo gerado por IA pode estar incorreto.">
              <a:extLst>
                <a:ext uri="{FF2B5EF4-FFF2-40B4-BE49-F238E27FC236}">
                  <a16:creationId xmlns:a16="http://schemas.microsoft.com/office/drawing/2014/main" id="{5CF40B29-C0D9-7E40-19B2-52F6B20BCAD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alphaModFix/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backgroundMark x1="15967" y1="10645" x2="34961" y2="5811"/>
                          <a14:backgroundMark x1="34961" y1="5811" x2="79346" y2="9277"/>
                          <a14:backgroundMark x1="79346" y1="9277" x2="85840" y2="17627"/>
                          <a14:backgroundMark x1="85840" y1="17627" x2="86182" y2="19482"/>
                          <a14:backgroundMark x1="14209" y1="39697" x2="23438" y2="93652"/>
                          <a14:backgroundMark x1="23438" y1="93652" x2="30518" y2="99609"/>
                          <a14:backgroundMark x1="30518" y1="99609" x2="30518" y2="99609"/>
                          <a14:backgroundMark x1="91846" y1="18457" x2="91113" y2="7338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26393" y="-336302"/>
              <a:ext cx="4833720" cy="4338420"/>
            </a:xfrm>
            <a:prstGeom prst="rect">
              <a:avLst/>
            </a:prstGeom>
          </p:spPr>
        </p:pic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438598E9-20C9-2A35-BAAE-1BBFCA99D627}"/>
                </a:ext>
              </a:extLst>
            </p:cNvPr>
            <p:cNvSpPr txBox="1"/>
            <p:nvPr/>
          </p:nvSpPr>
          <p:spPr>
            <a:xfrm>
              <a:off x="2633303" y="3562400"/>
              <a:ext cx="6819899" cy="16130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b="1" dirty="0">
                  <a:solidFill>
                    <a:srgbClr val="F1F5F9"/>
                  </a:solidFill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TEZ &amp; TEZ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f9019d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19584"/>
          </a:xfrm>
          <a:prstGeom prst="rect">
            <a:avLst/>
          </a:prstGeom>
        </p:spPr>
      </p:pic>
      <p:pic>
        <p:nvPicPr>
          <p:cNvPr id="36" name="Imagem 35" descr="Diagrama, Desenho técnico">
            <a:extLst>
              <a:ext uri="{FF2B5EF4-FFF2-40B4-BE49-F238E27FC236}">
                <a16:creationId xmlns:a16="http://schemas.microsoft.com/office/drawing/2014/main" id="{9426E941-9144-921C-570C-CECC8F3A0E5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6000"/>
          </a:blip>
          <a:stretch>
            <a:fillRect/>
          </a:stretch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90500"/>
            <a:ext cx="4090226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Benefícios Estratégicos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71500" y="928129"/>
            <a:ext cx="3905250" cy="1287512"/>
          </a:xfrm>
          <a:prstGeom prst="roundRect">
            <a:avLst>
              <a:gd name="adj" fmla="val 887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590550" y="928129"/>
            <a:ext cx="0" cy="1287512"/>
          </a:xfrm>
          <a:prstGeom prst="line">
            <a:avLst/>
          </a:prstGeom>
          <a:noFill/>
          <a:ln w="381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00100" y="1118629"/>
            <a:ext cx="35558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Autoridade Enterprise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0100" y="1385329"/>
            <a:ext cx="3555873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âmbar premium mais sofisticado que o dourado vibrante atual, transmitindo maturidade e expertise de 33+ anos.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667250" y="928129"/>
            <a:ext cx="3905250" cy="1287512"/>
          </a:xfrm>
          <a:prstGeom prst="roundRect">
            <a:avLst>
              <a:gd name="adj" fmla="val 887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686300" y="928129"/>
            <a:ext cx="0" cy="1287512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4895850" y="1118629"/>
            <a:ext cx="35558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💎 Diferenciação Premium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95850" y="1385329"/>
            <a:ext cx="3555873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única no setor de utilities, destacando a TEZ &amp; TEZ como líder em tecnologia regulatória.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1500" y="2406141"/>
            <a:ext cx="3905250" cy="1074241"/>
          </a:xfrm>
          <a:prstGeom prst="roundRect">
            <a:avLst>
              <a:gd name="adj" fmla="val 1064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590550" y="2406141"/>
            <a:ext cx="0" cy="1074241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800100" y="2596641"/>
            <a:ext cx="35558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Hierarquia Visual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00100" y="2863341"/>
            <a:ext cx="3555873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cores estruturado que facilita a navegação e compreensão dos produtos TGA.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667250" y="2406141"/>
            <a:ext cx="3905250" cy="1074241"/>
          </a:xfrm>
          <a:prstGeom prst="roundRect">
            <a:avLst>
              <a:gd name="adj" fmla="val 1064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4686300" y="2406141"/>
            <a:ext cx="0" cy="1074241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4895850" y="2596641"/>
            <a:ext cx="35558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Consistência Total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895850" y="2863341"/>
            <a:ext cx="3555873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paleta aplicável em todos os touchpoints: site, software, apresentações e materiais.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71500" y="3670883"/>
            <a:ext cx="3905250" cy="1074241"/>
          </a:xfrm>
          <a:prstGeom prst="roundRect">
            <a:avLst>
              <a:gd name="adj" fmla="val 1064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590550" y="3670883"/>
            <a:ext cx="0" cy="1074241"/>
          </a:xfrm>
          <a:prstGeom prst="line">
            <a:avLst/>
          </a:prstGeom>
          <a:noFill/>
          <a:ln w="38100">
            <a:solidFill>
              <a:srgbClr val="1B25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800100" y="3861383"/>
            <a:ext cx="35558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♿ Acessibilidade WCAG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00100" y="4128083"/>
            <a:ext cx="3555873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Contraste AAA entre cores garantindo legibilidade para todos os usuários.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667250" y="3670883"/>
            <a:ext cx="3905250" cy="1074241"/>
          </a:xfrm>
          <a:prstGeom prst="roundRect">
            <a:avLst>
              <a:gd name="adj" fmla="val 1064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4686300" y="3670883"/>
            <a:ext cx="0" cy="1074241"/>
          </a:xfrm>
          <a:prstGeom prst="line">
            <a:avLst/>
          </a:prstGeom>
          <a:noFill/>
          <a:ln w="38100">
            <a:solidFill>
              <a:srgbClr val="2A5DC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4895850" y="3861383"/>
            <a:ext cx="35558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Responsividade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895850" y="4128083"/>
            <a:ext cx="3555873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Cores otimizadas para todos os dispositivos, de mobile a apresentações 4K.</a:t>
            </a:r>
            <a:endParaRPr lang="en-US" sz="1050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14472A7E-EEB2-393F-91A7-722B698CD267}"/>
              </a:ext>
            </a:extLst>
          </p:cNvPr>
          <p:cNvGrpSpPr/>
          <p:nvPr/>
        </p:nvGrpSpPr>
        <p:grpSpPr>
          <a:xfrm>
            <a:off x="7993128" y="-87168"/>
            <a:ext cx="1004588" cy="893919"/>
            <a:chOff x="2633303" y="-336302"/>
            <a:chExt cx="6819899" cy="5511741"/>
          </a:xfrm>
        </p:grpSpPr>
        <p:pic>
          <p:nvPicPr>
            <p:cNvPr id="30" name="Imagem 29" descr="Imagem de vídeo game&#10;&#10;O conteúdo gerado por IA pode estar incorreto.">
              <a:extLst>
                <a:ext uri="{FF2B5EF4-FFF2-40B4-BE49-F238E27FC236}">
                  <a16:creationId xmlns:a16="http://schemas.microsoft.com/office/drawing/2014/main" id="{9010CE8B-28A5-4ACC-E8DD-276ED95B8C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>
                          <a14:backgroundMark x1="15967" y1="10645" x2="34961" y2="5811"/>
                          <a14:backgroundMark x1="34961" y1="5811" x2="79346" y2="9277"/>
                          <a14:backgroundMark x1="79346" y1="9277" x2="85840" y2="17627"/>
                          <a14:backgroundMark x1="85840" y1="17627" x2="86182" y2="19482"/>
                          <a14:backgroundMark x1="14209" y1="39697" x2="23438" y2="93652"/>
                          <a14:backgroundMark x1="23438" y1="93652" x2="30518" y2="99609"/>
                          <a14:backgroundMark x1="30518" y1="99609" x2="30518" y2="99609"/>
                          <a14:backgroundMark x1="91846" y1="18457" x2="91113" y2="7338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26393" y="-336302"/>
              <a:ext cx="4833720" cy="4338420"/>
            </a:xfrm>
            <a:prstGeom prst="rect">
              <a:avLst/>
            </a:prstGeom>
          </p:spPr>
        </p:pic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B86BFE3D-D079-9BAD-8393-F8202911FD1A}"/>
                </a:ext>
              </a:extLst>
            </p:cNvPr>
            <p:cNvSpPr txBox="1"/>
            <p:nvPr/>
          </p:nvSpPr>
          <p:spPr>
            <a:xfrm>
              <a:off x="2633303" y="3562400"/>
              <a:ext cx="6819899" cy="16130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b="1" dirty="0">
                  <a:solidFill>
                    <a:srgbClr val="F1F5F9"/>
                  </a:solidFill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TEZ &amp; TEZ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 descr="Diagrama, Desenho técnico">
            <a:extLst>
              <a:ext uri="{FF2B5EF4-FFF2-40B4-BE49-F238E27FC236}">
                <a16:creationId xmlns:a16="http://schemas.microsoft.com/office/drawing/2014/main" id="{2B72C999-12EA-1F5A-32DE-BE2453191FB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7000"/>
            <a:duotone>
              <a:prstClr val="black"/>
              <a:srgbClr val="1B2537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432578" y="-1"/>
            <a:ext cx="9144000" cy="51435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2526887" y="993309"/>
            <a:ext cx="4090226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33"/>
              </a:lnSpc>
              <a:spcAft>
                <a:spcPts val="18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Consolidada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91490" y="1573739"/>
            <a:ext cx="8161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completo para comunicação visual premium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71500" y="2004716"/>
            <a:ext cx="8001000" cy="1653332"/>
          </a:xfrm>
          <a:prstGeom prst="roundRect">
            <a:avLst>
              <a:gd name="adj" fmla="val 921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0" descr="/tmp/rasterized-gradient-1792f1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2319041"/>
            <a:ext cx="1728788" cy="571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537" y="2985791"/>
            <a:ext cx="17633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Âmbar Premium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868537" y="3197127"/>
            <a:ext cx="17633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#D97706 → #F59E0B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2767013" y="2319041"/>
            <a:ext cx="1728788" cy="57150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749725" y="2985791"/>
            <a:ext cx="17633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Slate Executivo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2749725" y="3197127"/>
            <a:ext cx="17633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#0F172A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4648200" y="2319041"/>
            <a:ext cx="1728788" cy="571500"/>
          </a:xfrm>
          <a:prstGeom prst="roundRect">
            <a:avLst>
              <a:gd name="adj" fmla="val 13333"/>
            </a:avLst>
          </a:prstGeom>
          <a:solidFill>
            <a:srgbClr val="1E40A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630912" y="2985791"/>
            <a:ext cx="17633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Corporativo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4630912" y="3197127"/>
            <a:ext cx="17633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#1E40AF</a:t>
            </a:r>
            <a:endParaRPr lang="en-US" sz="825" dirty="0"/>
          </a:p>
        </p:txBody>
      </p:sp>
      <p:pic>
        <p:nvPicPr>
          <p:cNvPr id="14" name="Image 1" descr="/tmp/rasterized-gradient-f716c7b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9388" y="2319041"/>
            <a:ext cx="1728788" cy="5715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512100" y="2985791"/>
            <a:ext cx="17633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Grays</a:t>
            </a:r>
            <a:endParaRPr lang="en-US" sz="975" dirty="0"/>
          </a:p>
        </p:txBody>
      </p:sp>
      <p:sp>
        <p:nvSpPr>
          <p:cNvPr id="16" name="Text 12"/>
          <p:cNvSpPr/>
          <p:nvPr/>
        </p:nvSpPr>
        <p:spPr>
          <a:xfrm>
            <a:off x="6512100" y="3197127"/>
            <a:ext cx="17633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#334155 • #64748B • #94A3B8</a:t>
            </a:r>
            <a:endParaRPr lang="en-US" sz="825" dirty="0"/>
          </a:p>
        </p:txBody>
      </p:sp>
      <p:sp>
        <p:nvSpPr>
          <p:cNvPr id="17" name="Text 13"/>
          <p:cNvSpPr/>
          <p:nvPr/>
        </p:nvSpPr>
        <p:spPr>
          <a:xfrm>
            <a:off x="491490" y="3820749"/>
            <a:ext cx="816102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550402" y="4127498"/>
            <a:ext cx="8161020" cy="432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Aprovação para implementação gradual em 2025/2026</a:t>
            </a:r>
            <a:endParaRPr lang="en-US" sz="1350" dirty="0"/>
          </a:p>
          <a:p>
            <a:pPr marL="0" indent="0" algn="ctr">
              <a:lnSpc>
                <a:spcPts val="21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  <a:p>
            <a:pPr marL="0" indent="0" algn="ctr">
              <a:lnSpc>
                <a:spcPts val="21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e sugestões da liderança</a:t>
            </a:r>
            <a:endParaRPr lang="en-US" sz="1350" dirty="0"/>
          </a:p>
        </p:txBody>
      </p:sp>
      <p:pic>
        <p:nvPicPr>
          <p:cNvPr id="19" name="Imagem 18" descr="Logotipo&#10;&#10;O conteúdo gerado por IA pode estar incorreto.">
            <a:extLst>
              <a:ext uri="{FF2B5EF4-FFF2-40B4-BE49-F238E27FC236}">
                <a16:creationId xmlns:a16="http://schemas.microsoft.com/office/drawing/2014/main" id="{BCFF3288-2DF9-998D-F302-5F8792E278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23692" y="65057"/>
            <a:ext cx="1249016" cy="10849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610</Words>
  <Application>Microsoft Office PowerPoint</Application>
  <PresentationFormat>Apresentação na tela (16:9)</PresentationFormat>
  <Paragraphs>120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monospace</vt:lpstr>
      <vt:lpstr>Sans Serif Collection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 Paleta de Cores Enterprise - TEZ &amp; TEZ</dc:title>
  <dc:subject>Apresentação Executiva - Atualização da Paleta de Cores</dc:subject>
  <dc:creator>TEZ &amp; TEZ - Consultoria Estratégica</dc:creator>
  <cp:lastModifiedBy>Robson Santos</cp:lastModifiedBy>
  <cp:revision>2</cp:revision>
  <dcterms:created xsi:type="dcterms:W3CDTF">2025-10-16T20:40:23Z</dcterms:created>
  <dcterms:modified xsi:type="dcterms:W3CDTF">2025-10-27T23:45:01Z</dcterms:modified>
</cp:coreProperties>
</file>